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7" r:id="rId3"/>
    <p:sldId id="275" r:id="rId4"/>
    <p:sldId id="259" r:id="rId5"/>
    <p:sldId id="276" r:id="rId6"/>
    <p:sldId id="278" r:id="rId7"/>
    <p:sldId id="277" r:id="rId8"/>
    <p:sldId id="279" r:id="rId9"/>
    <p:sldId id="280" r:id="rId10"/>
    <p:sldId id="264" r:id="rId11"/>
    <p:sldId id="263" r:id="rId12"/>
    <p:sldId id="267" r:id="rId13"/>
    <p:sldId id="268" r:id="rId14"/>
    <p:sldId id="260" r:id="rId15"/>
    <p:sldId id="281" r:id="rId16"/>
    <p:sldId id="272" r:id="rId17"/>
    <p:sldId id="258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A017"/>
    <a:srgbClr val="A48A45"/>
    <a:srgbClr val="1A1F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07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17D1B322-211C-9672-281C-EC7AB4F2335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37CE4C1-73C7-35C5-A46A-B5C51AB121C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29163F-9D37-43B0-A2E7-67D2E9525461}" type="datetimeFigureOut">
              <a:rPr lang="es-ES" smtClean="0"/>
              <a:t>26/05/2026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6638A11-6E3B-0D04-8432-7568EB6E86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18C53BF-A7E4-4BF8-7541-1DF7B7F94D3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A583D3-CE98-4670-A637-D3EF9FB7D4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1138608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DC0735-5C45-4FC1-A0D9-47D524C9ABD5}" type="datetimeFigureOut">
              <a:rPr lang="es-ES" smtClean="0"/>
              <a:t>26/05/2026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A492C7-5479-4828-8A19-767A291850B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61121537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encabezado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A492C7-5479-4828-8A19-767A291850BE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6674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https://www.kaggle.com/datasets/jaypradipshah/the-complete-playing-card-dataset?resource=download </a:t>
            </a:r>
          </a:p>
        </p:txBody>
      </p:sp>
      <p:sp>
        <p:nvSpPr>
          <p:cNvPr id="4" name="Marcador de encabezado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A492C7-5479-4828-8A19-767A291850BE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5198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encabezado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A492C7-5479-4828-8A19-767A291850BE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177899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304.08069" TargetMode="Externa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35930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7200" b="1" noProof="0" dirty="0" err="1">
                <a:solidFill>
                  <a:srgbClr val="D4A017"/>
                </a:solidFill>
                <a:latin typeface="Calibri"/>
              </a:rPr>
              <a:t>BlackjackVAI</a:t>
            </a:r>
            <a:endParaRPr lang="es-ES" sz="7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23747" y="31089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2800" noProof="0" dirty="0">
                <a:solidFill>
                  <a:srgbClr val="FFFFFF"/>
                </a:solidFill>
                <a:latin typeface="Calibri"/>
              </a:rPr>
              <a:t>Sistema de visión artificial para blackjack en tiempo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63403"/>
            <a:ext cx="4967898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2200" b="1" noProof="0" dirty="0">
                <a:solidFill>
                  <a:srgbClr val="FFFFFF"/>
                </a:solidFill>
                <a:latin typeface="Calibri"/>
              </a:rPr>
              <a:t>Carlos Díaz · David Moreda · Javier Cerón</a:t>
            </a:r>
          </a:p>
          <a:p>
            <a:r>
              <a:rPr lang="es-ES" sz="1600" noProof="0" dirty="0">
                <a:solidFill>
                  <a:srgbClr val="B0B8C4"/>
                </a:solidFill>
                <a:latin typeface="Calibri"/>
              </a:rPr>
              <a:t>Máster en IA — Visión Artificial Avanzada — 2026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58BC43E6-4908-59BF-3CCC-D9E9F1F1D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76" y="0"/>
            <a:ext cx="2357124" cy="11533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754" y="852420"/>
            <a:ext cx="11277295" cy="64633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3600" b="1" noProof="0" dirty="0">
                <a:solidFill>
                  <a:srgbClr val="D4A017"/>
                </a:solidFill>
                <a:latin typeface="Calibri"/>
              </a:rPr>
              <a:t>Blackjack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3754" y="2060553"/>
            <a:ext cx="1019891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Objetivo: acercarse a 21 sin pasarse, superando al croupier</a:t>
            </a:r>
          </a:p>
          <a:p>
            <a:pPr>
              <a:spcAft>
                <a:spcPts val="600"/>
              </a:spcAft>
            </a:pPr>
            <a:endParaRPr lang="es-ES" sz="2000" b="0" noProof="0" dirty="0">
              <a:solidFill>
                <a:srgbClr val="FFFFFF"/>
              </a:solidFill>
              <a:latin typeface="Calibri"/>
            </a:endParaRPr>
          </a:p>
          <a:p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Carta con valor numérico (2–10), figuras valen 10, As vale 1 u 11</a:t>
            </a:r>
          </a:p>
          <a:p>
            <a:endParaRPr lang="es-ES" dirty="0"/>
          </a:p>
          <a:p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Acciones: </a:t>
            </a:r>
          </a:p>
          <a:p>
            <a:pPr lvl="2"/>
            <a:r>
              <a:rPr lang="es-ES" b="1" dirty="0"/>
              <a:t>	</a:t>
            </a:r>
            <a:r>
              <a:rPr lang="es-ES" dirty="0"/>
              <a:t>· </a:t>
            </a:r>
            <a:r>
              <a:rPr lang="es-ES" b="1" dirty="0"/>
              <a:t>HIT</a:t>
            </a:r>
            <a:r>
              <a:rPr lang="es-ES" dirty="0"/>
              <a:t> (pedir carta) </a:t>
            </a:r>
          </a:p>
          <a:p>
            <a:pPr lvl="2"/>
            <a:r>
              <a:rPr lang="es-ES" dirty="0"/>
              <a:t>	· </a:t>
            </a:r>
            <a:r>
              <a:rPr lang="es-ES" b="1" dirty="0"/>
              <a:t>STAND</a:t>
            </a:r>
            <a:r>
              <a:rPr lang="es-ES" dirty="0"/>
              <a:t> (plantarse) </a:t>
            </a:r>
          </a:p>
          <a:p>
            <a:pPr lvl="2"/>
            <a:r>
              <a:rPr lang="es-ES" dirty="0"/>
              <a:t>	· </a:t>
            </a:r>
            <a:r>
              <a:rPr lang="es-ES" b="1" dirty="0"/>
              <a:t>DOUBLE</a:t>
            </a:r>
            <a:r>
              <a:rPr lang="es-ES" dirty="0"/>
              <a:t> (doblar apuesta) </a:t>
            </a:r>
          </a:p>
          <a:p>
            <a:pPr lvl="2"/>
            <a:r>
              <a:rPr lang="es-ES" dirty="0"/>
              <a:t>	· </a:t>
            </a:r>
            <a:r>
              <a:rPr lang="es-ES" b="1" dirty="0"/>
              <a:t>SPLIT</a:t>
            </a:r>
            <a:r>
              <a:rPr lang="es-ES" dirty="0"/>
              <a:t> (separar pareja)</a:t>
            </a:r>
          </a:p>
          <a:p>
            <a:pPr>
              <a:spcAft>
                <a:spcPts val="600"/>
              </a:spcAft>
            </a:pPr>
            <a:endParaRPr lang="es-ES" sz="2000" b="0" noProof="0" dirty="0">
              <a:solidFill>
                <a:srgbClr val="FFFFFF"/>
              </a:solidFill>
              <a:latin typeface="Calibri"/>
            </a:endParaRPr>
          </a:p>
          <a:p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El croupier sigue reglas fijas: pide carta hasta llegar a 17+</a:t>
            </a:r>
          </a:p>
          <a:p>
            <a:pPr>
              <a:spcAft>
                <a:spcPts val="600"/>
              </a:spcAft>
            </a:pPr>
            <a:endParaRPr lang="es-ES" sz="2000" b="0" noProof="0" dirty="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5C8B0037-9A76-EFEF-3AF0-CE0CFDF40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1000494"/>
            <a:ext cx="3429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80DFD-AD32-28A5-2582-FBEE69A7C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AB10A4-5D7A-C034-0E5B-DA5DE9557456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B4303F-E012-9DA1-AD17-736831E6BB65}"/>
              </a:ext>
            </a:extLst>
          </p:cNvPr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2 / 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14D36-5839-2642-3128-425A9942C1CA}"/>
              </a:ext>
            </a:extLst>
          </p:cNvPr>
          <p:cNvSpPr txBox="1"/>
          <p:nvPr/>
        </p:nvSpPr>
        <p:spPr>
          <a:xfrm>
            <a:off x="640080" y="798865"/>
            <a:ext cx="11277295" cy="76944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3600" b="1" noProof="0" dirty="0">
                <a:solidFill>
                  <a:srgbClr val="D4A017"/>
                </a:solidFill>
                <a:latin typeface="Calibri"/>
              </a:rPr>
              <a:t>El</a:t>
            </a:r>
            <a:r>
              <a:rPr lang="es-ES" sz="4400" i="1" noProof="0" dirty="0">
                <a:solidFill>
                  <a:srgbClr val="B0B8C4"/>
                </a:solidFill>
                <a:latin typeface="Calibri"/>
              </a:rPr>
              <a:t> </a:t>
            </a:r>
            <a:r>
              <a:rPr lang="es-ES" sz="3600" b="1" noProof="0" dirty="0">
                <a:solidFill>
                  <a:srgbClr val="D4A017"/>
                </a:solidFill>
                <a:latin typeface="Calibri"/>
              </a:rPr>
              <a:t>proyecto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CFE2B3-88C4-0251-C068-2F52E40D260A}"/>
              </a:ext>
            </a:extLst>
          </p:cNvPr>
          <p:cNvSpPr txBox="1"/>
          <p:nvPr/>
        </p:nvSpPr>
        <p:spPr>
          <a:xfrm>
            <a:off x="548640" y="2026950"/>
            <a:ext cx="8110727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Reconocer cada carta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Sigue turnos automáticamente (jugador → dealer → fin de ronda)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Lleva el marcador (rondas ganadas / perdidas / empates)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Cuenta cartas y </a:t>
            </a:r>
            <a:r>
              <a:rPr lang="es-ES" sz="2000" dirty="0">
                <a:solidFill>
                  <a:srgbClr val="FFFFFF"/>
                </a:solidFill>
              </a:rPr>
              <a:t>sugerir la jugada óptima en cada turno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6EFD1D3C-97BF-6F7F-5BA5-2883D834C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1000494"/>
            <a:ext cx="3429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206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4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82846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Arquitectura del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28173"/>
            <a:ext cx="4368800" cy="1188720"/>
          </a:xfrm>
          <a:prstGeom prst="roundRect">
            <a:avLst/>
          </a:prstGeom>
          <a:solidFill>
            <a:srgbClr val="1A1F2E"/>
          </a:solidFill>
          <a:ln w="317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bIns="91440" rtlCol="0" anchor="ctr"/>
          <a:lstStyle/>
          <a:p>
            <a:pPr algn="ctr"/>
            <a:r>
              <a:rPr lang="es-ES" sz="2000" b="1" noProof="0" dirty="0">
                <a:solidFill>
                  <a:srgbClr val="60A5FA"/>
                </a:solidFill>
                <a:latin typeface="Calibri"/>
              </a:rPr>
              <a:t>CÁMARA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744507"/>
            <a:ext cx="4368800" cy="1188720"/>
          </a:xfrm>
          <a:prstGeom prst="roundRect">
            <a:avLst/>
          </a:prstGeom>
          <a:solidFill>
            <a:srgbClr val="1A1F2E"/>
          </a:solidFill>
          <a:ln w="317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bIns="91440" rtlCol="0" anchor="ctr"/>
          <a:lstStyle/>
          <a:p>
            <a:pPr algn="ctr"/>
            <a:r>
              <a:rPr lang="es-ES" sz="2000" b="1" dirty="0">
                <a:solidFill>
                  <a:srgbClr val="4ADE80"/>
                </a:solidFill>
                <a:latin typeface="Calibri"/>
              </a:rPr>
              <a:t>DETECCIÓN</a:t>
            </a:r>
            <a:endParaRPr lang="es-ES" sz="2000" b="1" noProof="0" dirty="0">
              <a:solidFill>
                <a:srgbClr val="4ADE80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14400" y="5577174"/>
            <a:ext cx="4368800" cy="1188720"/>
          </a:xfrm>
          <a:prstGeom prst="roundRect">
            <a:avLst/>
          </a:prstGeom>
          <a:solidFill>
            <a:srgbClr val="1A1F2E"/>
          </a:solidFill>
          <a:ln w="31750">
            <a:solidFill>
              <a:srgbClr val="D4A0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bIns="91440" rtlCol="0" anchor="ctr"/>
          <a:lstStyle/>
          <a:p>
            <a:pPr algn="ctr"/>
            <a:r>
              <a:rPr lang="es-ES" sz="2000" b="1" dirty="0">
                <a:solidFill>
                  <a:srgbClr val="D4A017"/>
                </a:solidFill>
                <a:latin typeface="Calibri"/>
              </a:rPr>
              <a:t>JUEGO</a:t>
            </a:r>
            <a:endParaRPr lang="es-ES" sz="20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128A5A09-4912-CE44-767A-55C7235F5EC3}"/>
              </a:ext>
            </a:extLst>
          </p:cNvPr>
          <p:cNvSpPr txBox="1"/>
          <p:nvPr/>
        </p:nvSpPr>
        <p:spPr>
          <a:xfrm>
            <a:off x="5794620" y="2891282"/>
            <a:ext cx="64735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>
                <a:solidFill>
                  <a:srgbClr val="D4A017"/>
                </a:solidFill>
              </a:rPr>
              <a:t>• </a:t>
            </a:r>
            <a:r>
              <a:rPr lang="es-ES" dirty="0"/>
              <a:t>Detecta y clasifica cada carta que se juega en tiempo real</a:t>
            </a:r>
            <a:endParaRPr lang="es-ES" sz="2000" b="1" noProof="0" dirty="0">
              <a:solidFill>
                <a:srgbClr val="D4A017"/>
              </a:solidFill>
              <a:latin typeface="Calibri"/>
            </a:endParaRPr>
          </a:p>
          <a:p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Genera una máscara de segmentación por carta</a:t>
            </a: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EAD43F0D-4D24-3D7F-B4B1-689A9B06372C}"/>
              </a:ext>
            </a:extLst>
          </p:cNvPr>
          <p:cNvSpPr txBox="1"/>
          <p:nvPr/>
        </p:nvSpPr>
        <p:spPr>
          <a:xfrm>
            <a:off x="5794620" y="5847744"/>
            <a:ext cx="64735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D4A017"/>
                </a:solidFill>
              </a:rPr>
              <a:t>• </a:t>
            </a:r>
            <a:r>
              <a:rPr lang="es-ES" dirty="0"/>
              <a:t>Almacena jugadas y recomienda acciones al jugador</a:t>
            </a:r>
          </a:p>
          <a:p>
            <a:r>
              <a:rPr lang="es-ES" sz="2000" b="1" dirty="0">
                <a:solidFill>
                  <a:srgbClr val="D4A017"/>
                </a:solidFill>
              </a:rPr>
              <a:t>• </a:t>
            </a:r>
            <a:r>
              <a:rPr lang="es-ES" dirty="0"/>
              <a:t>Interfaz gráfica</a:t>
            </a:r>
            <a:endParaRPr lang="es-ES" sz="2000" dirty="0">
              <a:solidFill>
                <a:srgbClr val="FFFFFF"/>
              </a:solidFill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A2D54193-8CD3-AC82-E6B1-7F9F9E07AA7B}"/>
              </a:ext>
            </a:extLst>
          </p:cNvPr>
          <p:cNvSpPr txBox="1"/>
          <p:nvPr/>
        </p:nvSpPr>
        <p:spPr>
          <a:xfrm>
            <a:off x="5794620" y="1478479"/>
            <a:ext cx="647358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Webcam sobre la mesa</a:t>
            </a:r>
          </a:p>
          <a:p>
            <a:r>
              <a:rPr lang="es-ES" b="1" dirty="0">
                <a:solidFill>
                  <a:srgbClr val="D4A017"/>
                </a:solidFill>
              </a:rPr>
              <a:t>•</a:t>
            </a:r>
            <a:r>
              <a:rPr lang="es-ES" dirty="0"/>
              <a:t> Captura continua del estado de la partida</a:t>
            </a:r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608104EA-9511-271D-DA33-3B9A2EAB8390}"/>
              </a:ext>
            </a:extLst>
          </p:cNvPr>
          <p:cNvSpPr/>
          <p:nvPr/>
        </p:nvSpPr>
        <p:spPr>
          <a:xfrm>
            <a:off x="914400" y="4160840"/>
            <a:ext cx="4368800" cy="1188720"/>
          </a:xfrm>
          <a:prstGeom prst="roundRect">
            <a:avLst/>
          </a:prstGeom>
          <a:solidFill>
            <a:srgbClr val="1A1F2E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bIns="91440" rtlCol="0" anchor="ctr"/>
          <a:lstStyle/>
          <a:p>
            <a:pPr algn="ctr"/>
            <a:r>
              <a:rPr lang="es-ES" sz="2000" b="1" noProof="0" dirty="0">
                <a:solidFill>
                  <a:srgbClr val="FF0000"/>
                </a:solidFill>
                <a:latin typeface="Calibri"/>
              </a:rPr>
              <a:t>TRACKING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ECDF61D-A79D-0416-5224-B956157DEC6E}"/>
              </a:ext>
            </a:extLst>
          </p:cNvPr>
          <p:cNvSpPr txBox="1"/>
          <p:nvPr/>
        </p:nvSpPr>
        <p:spPr>
          <a:xfrm>
            <a:off x="5718420" y="4342608"/>
            <a:ext cx="64735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>
                <a:solidFill>
                  <a:srgbClr val="D4A017"/>
                </a:solidFill>
              </a:rPr>
              <a:t>• </a:t>
            </a:r>
            <a:r>
              <a:rPr lang="es-ES" dirty="0"/>
              <a:t>Mantiene la identidad de cada carta entre </a:t>
            </a:r>
            <a:r>
              <a:rPr lang="es-ES" dirty="0" err="1"/>
              <a:t>frames</a:t>
            </a:r>
            <a:endParaRPr lang="es-ES" dirty="0"/>
          </a:p>
          <a:p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Evita registrar la misma carta múltiples veces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E9191-B06A-35E1-5609-7FF5C3B4D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A142BF-3359-5AD0-0517-2E3F959631E8}"/>
              </a:ext>
            </a:extLst>
          </p:cNvPr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6 / 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BF9BB3-D907-9CF9-C57C-257AD8FDB92E}"/>
              </a:ext>
            </a:extLst>
          </p:cNvPr>
          <p:cNvSpPr txBox="1"/>
          <p:nvPr/>
        </p:nvSpPr>
        <p:spPr>
          <a:xfrm>
            <a:off x="640080" y="640080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Dataset</a:t>
            </a:r>
            <a:endParaRPr lang="es-ES" sz="3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2" name="TextBox 5">
            <a:extLst>
              <a:ext uri="{FF2B5EF4-FFF2-40B4-BE49-F238E27FC236}">
                <a16:creationId xmlns:a16="http://schemas.microsoft.com/office/drawing/2014/main" id="{C9A8C3F3-CB03-0EE5-EFFD-7EF2D61EC731}"/>
              </a:ext>
            </a:extLst>
          </p:cNvPr>
          <p:cNvSpPr txBox="1"/>
          <p:nvPr/>
        </p:nvSpPr>
        <p:spPr>
          <a:xfrm>
            <a:off x="548640" y="1303789"/>
            <a:ext cx="48107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54 clases (52 cartas + dorso + Joker)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Mucha variabilidad según ángulo, luz, cartas cubiertas…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65AFD4E-EF9B-3B04-EEB8-47DFDB40C3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6859" y="2928544"/>
            <a:ext cx="7656349" cy="3838016"/>
          </a:xfrm>
          <a:prstGeom prst="rect">
            <a:avLst/>
          </a:prstGeom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3A9D5C61-133F-59DF-4A21-52BBDC8DD3E3}"/>
              </a:ext>
            </a:extLst>
          </p:cNvPr>
          <p:cNvSpPr txBox="1"/>
          <p:nvPr/>
        </p:nvSpPr>
        <p:spPr>
          <a:xfrm>
            <a:off x="5787526" y="1291906"/>
            <a:ext cx="655687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Uso de </a:t>
            </a:r>
            <a:r>
              <a:rPr lang="es-ES" sz="2000" noProof="0" dirty="0" err="1">
                <a:solidFill>
                  <a:srgbClr val="FFFFFF"/>
                </a:solidFill>
                <a:latin typeface="Calibri"/>
              </a:rPr>
              <a:t>Roboflow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 para etiquetado y creación del </a:t>
            </a:r>
            <a:r>
              <a:rPr lang="es-ES" sz="2000" noProof="0" dirty="0" err="1">
                <a:solidFill>
                  <a:srgbClr val="FFFFFF"/>
                </a:solidFill>
                <a:latin typeface="Calibri"/>
              </a:rPr>
              <a:t>dataset</a:t>
            </a: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s-ES" sz="200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b="1" dirty="0">
                <a:solidFill>
                  <a:srgbClr val="D4A017"/>
                </a:solidFill>
              </a:rPr>
              <a:t>• </a:t>
            </a:r>
            <a:r>
              <a:rPr lang="es-ES" sz="2000" dirty="0">
                <a:solidFill>
                  <a:srgbClr val="FFFFFF"/>
                </a:solidFill>
              </a:rPr>
              <a:t>Split: 80% </a:t>
            </a:r>
            <a:r>
              <a:rPr lang="es-ES" sz="2000" dirty="0" err="1">
                <a:solidFill>
                  <a:srgbClr val="FFFFFF"/>
                </a:solidFill>
              </a:rPr>
              <a:t>train</a:t>
            </a:r>
            <a:r>
              <a:rPr lang="es-ES" sz="2000" dirty="0">
                <a:solidFill>
                  <a:srgbClr val="FFFFFF"/>
                </a:solidFill>
              </a:rPr>
              <a:t> / 20% val</a:t>
            </a:r>
            <a:endParaRPr lang="es-ES" sz="2000" noProof="0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0970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ECF7-33E3-5DF6-7A2C-46B4982AA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C553C8-57C2-D579-8B88-84EF470C2B22}"/>
              </a:ext>
            </a:extLst>
          </p:cNvPr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6 / 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581DBF-6266-2F3B-F7DD-FE8BDCFE4FEA}"/>
              </a:ext>
            </a:extLst>
          </p:cNvPr>
          <p:cNvSpPr txBox="1"/>
          <p:nvPr/>
        </p:nvSpPr>
        <p:spPr>
          <a:xfrm>
            <a:off x="640080" y="640080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dirty="0">
                <a:solidFill>
                  <a:srgbClr val="D4A017"/>
                </a:solidFill>
                <a:latin typeface="Calibri"/>
              </a:rPr>
              <a:t>SAM para segmentación automática</a:t>
            </a:r>
            <a:endParaRPr lang="es-ES" sz="3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2" name="TextBox 5">
            <a:extLst>
              <a:ext uri="{FF2B5EF4-FFF2-40B4-BE49-F238E27FC236}">
                <a16:creationId xmlns:a16="http://schemas.microsoft.com/office/drawing/2014/main" id="{66D3C206-3CF9-3999-9AB2-EA341F7FF64D}"/>
              </a:ext>
            </a:extLst>
          </p:cNvPr>
          <p:cNvSpPr txBox="1"/>
          <p:nvPr/>
        </p:nvSpPr>
        <p:spPr>
          <a:xfrm>
            <a:off x="387774" y="1303789"/>
            <a:ext cx="971296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solidFill>
                  <a:srgbClr val="D4A017"/>
                </a:solidFill>
              </a:rPr>
              <a:t>• </a:t>
            </a:r>
            <a:r>
              <a:rPr lang="es-ES" sz="2000" dirty="0">
                <a:solidFill>
                  <a:srgbClr val="FFFFFF"/>
                </a:solidFill>
              </a:rPr>
              <a:t>SAM : Segmenta cualquier objeto dado un punto como </a:t>
            </a:r>
            <a:r>
              <a:rPr lang="es-ES" sz="2000" dirty="0" err="1">
                <a:solidFill>
                  <a:srgbClr val="FFFFFF"/>
                </a:solidFill>
              </a:rPr>
              <a:t>prompt</a:t>
            </a:r>
            <a:r>
              <a:rPr lang="es-ES" sz="2000" dirty="0">
                <a:solidFill>
                  <a:srgbClr val="FFFFFF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D4A017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 err="1">
                <a:solidFill>
                  <a:srgbClr val="FFFFFF"/>
                </a:solidFill>
                <a:latin typeface="Calibri"/>
              </a:rPr>
              <a:t>Dataset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 de Kagle con imágenes de cartas labeleadas pero sin segmentación.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Segmentamos con SAM y etiquetamos con los </a:t>
            </a:r>
            <a:r>
              <a:rPr lang="es-ES" sz="2000" noProof="0" dirty="0" err="1">
                <a:solidFill>
                  <a:srgbClr val="FFFFFF"/>
                </a:solidFill>
                <a:latin typeface="Calibri"/>
              </a:rPr>
              <a:t>labels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1136C6EE-6859-F7FA-40E7-50C92FEFD7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60" t="9546" r="844"/>
          <a:stretch>
            <a:fillRect/>
          </a:stretch>
        </p:blipFill>
        <p:spPr>
          <a:xfrm>
            <a:off x="224907" y="3451013"/>
            <a:ext cx="11692468" cy="317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625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076B3-CDAE-5AE5-497A-1EF220912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9EA7CB-A347-3CE8-BCF1-715084EABC7F}"/>
              </a:ext>
            </a:extLst>
          </p:cNvPr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6 / 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7463AE-3D82-22C6-0AF9-B0AD88ED9D34}"/>
              </a:ext>
            </a:extLst>
          </p:cNvPr>
          <p:cNvSpPr txBox="1"/>
          <p:nvPr/>
        </p:nvSpPr>
        <p:spPr>
          <a:xfrm>
            <a:off x="640080" y="393858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Dataset</a:t>
            </a:r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 versiones 1 y 2</a:t>
            </a:r>
          </a:p>
        </p:txBody>
      </p:sp>
      <p:sp>
        <p:nvSpPr>
          <p:cNvPr id="2" name="TextBox 3">
            <a:extLst>
              <a:ext uri="{FF2B5EF4-FFF2-40B4-BE49-F238E27FC236}">
                <a16:creationId xmlns:a16="http://schemas.microsoft.com/office/drawing/2014/main" id="{9C92D02D-B036-E7FC-A482-18CECC285E6E}"/>
              </a:ext>
            </a:extLst>
          </p:cNvPr>
          <p:cNvSpPr txBox="1"/>
          <p:nvPr/>
        </p:nvSpPr>
        <p:spPr>
          <a:xfrm>
            <a:off x="9148140" y="1240874"/>
            <a:ext cx="550181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V2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87FD47BB-1ADB-3E8A-5EA6-8D64500B285A}"/>
              </a:ext>
            </a:extLst>
          </p:cNvPr>
          <p:cNvSpPr txBox="1"/>
          <p:nvPr/>
        </p:nvSpPr>
        <p:spPr>
          <a:xfrm>
            <a:off x="2111739" y="1240875"/>
            <a:ext cx="550181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V1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189B1A4-E4A5-2145-1810-A8E5E9D0C380}"/>
              </a:ext>
            </a:extLst>
          </p:cNvPr>
          <p:cNvCxnSpPr>
            <a:cxnSpLocks/>
          </p:cNvCxnSpPr>
          <p:nvPr/>
        </p:nvCxnSpPr>
        <p:spPr>
          <a:xfrm>
            <a:off x="6096000" y="1240874"/>
            <a:ext cx="0" cy="2445149"/>
          </a:xfrm>
          <a:prstGeom prst="line">
            <a:avLst/>
          </a:prstGeom>
          <a:ln>
            <a:solidFill>
              <a:srgbClr val="D4A017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Box 5">
            <a:extLst>
              <a:ext uri="{FF2B5EF4-FFF2-40B4-BE49-F238E27FC236}">
                <a16:creationId xmlns:a16="http://schemas.microsoft.com/office/drawing/2014/main" id="{73890719-981D-0B42-7D38-2B38054FAE0A}"/>
              </a:ext>
            </a:extLst>
          </p:cNvPr>
          <p:cNvSpPr txBox="1"/>
          <p:nvPr/>
        </p:nvSpPr>
        <p:spPr>
          <a:xfrm>
            <a:off x="387774" y="1854752"/>
            <a:ext cx="5537538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solidFill>
                  <a:srgbClr val="D4A017"/>
                </a:solidFill>
              </a:rPr>
              <a:t>• </a:t>
            </a:r>
            <a:r>
              <a:rPr lang="es-ES" dirty="0"/>
              <a:t>10.500 imágenes probando </a:t>
            </a:r>
            <a:r>
              <a:rPr lang="es-ES" dirty="0" err="1"/>
              <a:t>tiling</a:t>
            </a:r>
            <a:endParaRPr lang="es-ES" dirty="0"/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Las imágenes están en </a:t>
            </a:r>
            <a:r>
              <a:rPr lang="es-ES" b="1" dirty="0"/>
              <a:t>escala de grises</a:t>
            </a: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El modelo entrenado </a:t>
            </a:r>
            <a:r>
              <a:rPr lang="es-ES" b="1" dirty="0"/>
              <a:t>no funciona con nuestra webcam en color</a:t>
            </a:r>
            <a:endParaRPr lang="es-ES" dirty="0"/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9A455D64-F461-C48B-F2B4-AFD680D61DF4}"/>
              </a:ext>
            </a:extLst>
          </p:cNvPr>
          <p:cNvSpPr txBox="1"/>
          <p:nvPr/>
        </p:nvSpPr>
        <p:spPr>
          <a:xfrm>
            <a:off x="6654462" y="1756368"/>
            <a:ext cx="5537538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400" dirty="0">
                <a:solidFill>
                  <a:srgbClr val="D4A017"/>
                </a:solidFill>
              </a:rPr>
              <a:t>• </a:t>
            </a:r>
            <a:r>
              <a:rPr lang="es-ES" sz="2000" dirty="0"/>
              <a:t>3.741 imágenes en color</a:t>
            </a:r>
            <a:endParaRPr lang="es-ES" sz="2400" dirty="0">
              <a:solidFill>
                <a:srgbClr val="FFFFFF"/>
              </a:solidFill>
            </a:endParaRPr>
          </a:p>
          <a:p>
            <a:pPr>
              <a:spcAft>
                <a:spcPts val="600"/>
              </a:spcAft>
            </a:pPr>
            <a:r>
              <a:rPr lang="es-ES" sz="2000" dirty="0">
                <a:solidFill>
                  <a:srgbClr val="D4A017"/>
                </a:solidFill>
              </a:rPr>
              <a:t>• </a:t>
            </a:r>
            <a:r>
              <a:rPr lang="es-ES" sz="2000" dirty="0" err="1">
                <a:solidFill>
                  <a:srgbClr val="FFFFFF"/>
                </a:solidFill>
              </a:rPr>
              <a:t>Reset</a:t>
            </a:r>
            <a:r>
              <a:rPr lang="es-ES" sz="2000" dirty="0">
                <a:solidFill>
                  <a:srgbClr val="FFFFFF"/>
                </a:solidFill>
              </a:rPr>
              <a:t> de imágenes </a:t>
            </a:r>
            <a:r>
              <a:rPr lang="es-ES" sz="2000" dirty="0" err="1">
                <a:solidFill>
                  <a:srgbClr val="FFFFFF"/>
                </a:solidFill>
              </a:rPr>
              <a:t>compeltas</a:t>
            </a:r>
            <a:endParaRPr lang="es-ES" sz="2000" noProof="0" dirty="0">
              <a:solidFill>
                <a:srgbClr val="D4A017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Solo fotos originales</a:t>
            </a:r>
          </a:p>
          <a:p>
            <a:pPr>
              <a:spcAft>
                <a:spcPts val="600"/>
              </a:spcAft>
            </a:pPr>
            <a:r>
              <a:rPr lang="es-ES" dirty="0">
                <a:solidFill>
                  <a:srgbClr val="D4A017"/>
                </a:solidFill>
              </a:rPr>
              <a:t>• </a:t>
            </a:r>
            <a:r>
              <a:rPr lang="es-ES" dirty="0"/>
              <a:t>Poca robustez a variaciones de luz, rotación o distancia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191F76C3-8ABC-9CAE-1126-62DA630292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242"/>
          <a:stretch>
            <a:fillRect/>
          </a:stretch>
        </p:blipFill>
        <p:spPr>
          <a:xfrm>
            <a:off x="12870" y="3598642"/>
            <a:ext cx="12043661" cy="325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084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25EA9-475B-35F7-1848-5D631758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58EF2C-CFDC-4924-F648-B954D58E8DA4}"/>
              </a:ext>
            </a:extLst>
          </p:cNvPr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6 / 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BC077D-0F7B-789F-3EA8-D9F682A80214}"/>
              </a:ext>
            </a:extLst>
          </p:cNvPr>
          <p:cNvSpPr txBox="1"/>
          <p:nvPr/>
        </p:nvSpPr>
        <p:spPr>
          <a:xfrm>
            <a:off x="640080" y="393858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Dataset</a:t>
            </a:r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 versiones 3 y 4</a:t>
            </a:r>
          </a:p>
        </p:txBody>
      </p:sp>
      <p:sp>
        <p:nvSpPr>
          <p:cNvPr id="2" name="TextBox 3">
            <a:extLst>
              <a:ext uri="{FF2B5EF4-FFF2-40B4-BE49-F238E27FC236}">
                <a16:creationId xmlns:a16="http://schemas.microsoft.com/office/drawing/2014/main" id="{0E0DAF74-3036-55F0-8AE7-8B2F1046D022}"/>
              </a:ext>
            </a:extLst>
          </p:cNvPr>
          <p:cNvSpPr txBox="1"/>
          <p:nvPr/>
        </p:nvSpPr>
        <p:spPr>
          <a:xfrm>
            <a:off x="9267089" y="1240874"/>
            <a:ext cx="550181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V4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8645A70B-57CB-38CF-0B5E-C063E38D0C62}"/>
              </a:ext>
            </a:extLst>
          </p:cNvPr>
          <p:cNvSpPr txBox="1"/>
          <p:nvPr/>
        </p:nvSpPr>
        <p:spPr>
          <a:xfrm>
            <a:off x="2111739" y="1240875"/>
            <a:ext cx="550181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V3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CDDDFBC-A997-0A17-A273-E1BE3068AF52}"/>
              </a:ext>
            </a:extLst>
          </p:cNvPr>
          <p:cNvCxnSpPr>
            <a:cxnSpLocks/>
          </p:cNvCxnSpPr>
          <p:nvPr/>
        </p:nvCxnSpPr>
        <p:spPr>
          <a:xfrm>
            <a:off x="6096000" y="1240874"/>
            <a:ext cx="0" cy="2445149"/>
          </a:xfrm>
          <a:prstGeom prst="line">
            <a:avLst/>
          </a:prstGeom>
          <a:ln>
            <a:solidFill>
              <a:srgbClr val="D4A017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Box 5">
            <a:extLst>
              <a:ext uri="{FF2B5EF4-FFF2-40B4-BE49-F238E27FC236}">
                <a16:creationId xmlns:a16="http://schemas.microsoft.com/office/drawing/2014/main" id="{B7A2C42A-774F-8C66-CAD4-3E25A13BF41B}"/>
              </a:ext>
            </a:extLst>
          </p:cNvPr>
          <p:cNvSpPr txBox="1"/>
          <p:nvPr/>
        </p:nvSpPr>
        <p:spPr>
          <a:xfrm>
            <a:off x="387774" y="1854752"/>
            <a:ext cx="5537538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dirty="0">
                <a:solidFill>
                  <a:srgbClr val="D4A017"/>
                </a:solidFill>
              </a:rPr>
              <a:t>• </a:t>
            </a:r>
            <a:r>
              <a:rPr lang="es-ES" dirty="0"/>
              <a:t>Mismas 3.741 imágenes que V2</a:t>
            </a: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 err="1"/>
              <a:t>Augmentations</a:t>
            </a:r>
            <a:r>
              <a:rPr lang="es-ES" dirty="0"/>
              <a:t> estándar de YOLO: rotaciones, </a:t>
            </a:r>
            <a:r>
              <a:rPr lang="es-ES" dirty="0" err="1"/>
              <a:t>flips</a:t>
            </a:r>
            <a:r>
              <a:rPr lang="es-ES" dirty="0"/>
              <a:t>, cambios de brillo y contraste</a:t>
            </a: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</a:t>
            </a:r>
            <a:r>
              <a:rPr lang="es-ES" dirty="0"/>
              <a:t> El modelo funciona bien en validación, pero </a:t>
            </a:r>
            <a:r>
              <a:rPr lang="es-ES" b="1" dirty="0"/>
              <a:t>falla con cartas a distancia</a:t>
            </a:r>
            <a:r>
              <a:rPr lang="es-ES" dirty="0"/>
              <a:t> 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70C9F9E6-8FAF-90AD-BBEC-8BBC2AFD6A4C}"/>
              </a:ext>
            </a:extLst>
          </p:cNvPr>
          <p:cNvSpPr txBox="1"/>
          <p:nvPr/>
        </p:nvSpPr>
        <p:spPr>
          <a:xfrm>
            <a:off x="6654462" y="1756368"/>
            <a:ext cx="5537538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>
                <a:solidFill>
                  <a:srgbClr val="D4A017"/>
                </a:solidFill>
              </a:rPr>
              <a:t>• </a:t>
            </a:r>
            <a:r>
              <a:rPr lang="es-ES" sz="2000" dirty="0"/>
              <a:t>Mismas 3.741 imágenes que V2</a:t>
            </a:r>
          </a:p>
          <a:p>
            <a:pPr>
              <a:spcAft>
                <a:spcPts val="600"/>
              </a:spcAft>
            </a:pPr>
            <a:r>
              <a:rPr lang="es-ES" sz="2000" dirty="0">
                <a:solidFill>
                  <a:srgbClr val="D4A017"/>
                </a:solidFill>
              </a:rPr>
              <a:t>• </a:t>
            </a:r>
            <a:r>
              <a:rPr lang="es-ES" dirty="0"/>
              <a:t>Fine-tune desde V3</a:t>
            </a: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dirty="0"/>
              <a:t>Mejora pero necesitamos </a:t>
            </a:r>
            <a:r>
              <a:rPr lang="es-ES" dirty="0"/>
              <a:t>más diversidad de datos</a:t>
            </a: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A8E4E26-7A04-5353-4C74-380BC457CC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0"/>
          <a:stretch>
            <a:fillRect/>
          </a:stretch>
        </p:blipFill>
        <p:spPr>
          <a:xfrm>
            <a:off x="6379836" y="3718670"/>
            <a:ext cx="5659761" cy="304323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E69CAD10-BF06-3980-E0BE-645404EC9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080" y="3718671"/>
            <a:ext cx="6007947" cy="3049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053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4E056-D82D-19B1-DAAB-BDE39D9D2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BBDDC6-EC0F-7387-C5E3-285B1B23923F}"/>
              </a:ext>
            </a:extLst>
          </p:cNvPr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6 / 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910146-1A26-BD5E-5FC9-392A9531CBDC}"/>
              </a:ext>
            </a:extLst>
          </p:cNvPr>
          <p:cNvSpPr txBox="1"/>
          <p:nvPr/>
        </p:nvSpPr>
        <p:spPr>
          <a:xfrm>
            <a:off x="640080" y="393858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Dataset</a:t>
            </a:r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 versiones 5 y 6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AB727426-D6A2-8A54-3B9D-E262A3C4D9B9}"/>
              </a:ext>
            </a:extLst>
          </p:cNvPr>
          <p:cNvSpPr txBox="1"/>
          <p:nvPr/>
        </p:nvSpPr>
        <p:spPr>
          <a:xfrm>
            <a:off x="237065" y="1106299"/>
            <a:ext cx="12843933" cy="26622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solidFill>
                  <a:srgbClr val="D4A017"/>
                </a:solidFill>
              </a:rPr>
              <a:t>• </a:t>
            </a:r>
            <a:r>
              <a:rPr lang="es-ES" dirty="0"/>
              <a:t>Duplica a 7.722 imágenes con la librería </a:t>
            </a:r>
            <a:r>
              <a:rPr lang="es-ES" b="1" dirty="0" err="1"/>
              <a:t>Albumentations</a:t>
            </a:r>
            <a:r>
              <a:rPr lang="es-ES" b="1" dirty="0"/>
              <a:t>:</a:t>
            </a:r>
          </a:p>
          <a:p>
            <a:pPr lvl="1"/>
            <a:r>
              <a:rPr lang="es-ES" dirty="0"/>
              <a:t>-Gaussian </a:t>
            </a:r>
            <a:r>
              <a:rPr lang="es-ES" dirty="0" err="1"/>
              <a:t>Blur</a:t>
            </a:r>
            <a:r>
              <a:rPr lang="es-ES" dirty="0"/>
              <a:t> → simula cartas fuera de foco o cámara de baja resolución</a:t>
            </a:r>
          </a:p>
          <a:p>
            <a:pPr lvl="1"/>
            <a:r>
              <a:rPr lang="es-ES" dirty="0"/>
              <a:t>-JPEG </a:t>
            </a:r>
            <a:r>
              <a:rPr lang="es-ES" dirty="0" err="1"/>
              <a:t>Compression</a:t>
            </a:r>
            <a:r>
              <a:rPr lang="es-ES" dirty="0"/>
              <a:t> → simula artefactos de cámara barata</a:t>
            </a:r>
          </a:p>
          <a:p>
            <a:pPr lvl="1"/>
            <a:r>
              <a:rPr lang="es-ES" dirty="0"/>
              <a:t>-CLAHE → simula variaciones de iluminación real (contraluz, sombras)</a:t>
            </a:r>
          </a:p>
          <a:p>
            <a:pPr lvl="1"/>
            <a:endParaRPr lang="es-ES" dirty="0"/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V5= Fine-tune desde V4 </a:t>
            </a:r>
            <a:endParaRPr lang="es-ES" b="1" dirty="0"/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V6= Entrenamiento desde 0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BE2B57BB-1D12-E4E9-27E9-FE0719B053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29"/>
          <a:stretch>
            <a:fillRect/>
          </a:stretch>
        </p:blipFill>
        <p:spPr>
          <a:xfrm>
            <a:off x="1239520" y="3500846"/>
            <a:ext cx="9506857" cy="3128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670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9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¿Por qué un segundo modelo? RT-DETR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Validar la elección con un paradigma diferente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471459"/>
              </p:ext>
            </p:extLst>
          </p:nvPr>
        </p:nvGraphicFramePr>
        <p:xfrm>
          <a:off x="548640" y="18288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YOLOv8m-seg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RT-DETR-L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Familia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CNN clásica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Transformer (DETR family)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CSPDarknet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HGNetv2 + Transformer enc/dec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Anchors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Postproceso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NMS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Hungarian matching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Paper claim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"bate a YOLOv8 en COCO“ </a:t>
                      </a:r>
                      <a:r>
                        <a:rPr lang="es-ES" sz="1500" b="0" noProof="0" dirty="0">
                          <a:solidFill>
                            <a:srgbClr val="FF0000"/>
                          </a:solidFill>
                          <a:latin typeface="Calibri"/>
                        </a:rPr>
                        <a:t>*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Marcador de pie de página 8">
            <a:extLst>
              <a:ext uri="{FF2B5EF4-FFF2-40B4-BE49-F238E27FC236}">
                <a16:creationId xmlns:a16="http://schemas.microsoft.com/office/drawing/2014/main" id="{68D4B253-8B19-E1BF-7800-0EC04505C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401435"/>
            <a:ext cx="7351776" cy="365125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*</a:t>
            </a:r>
            <a:r>
              <a:rPr lang="en-US" dirty="0"/>
              <a:t> Zhao et al., "DETRs Beat YOLOs on Real-time Object Detection", CVPR 2024. </a:t>
            </a:r>
            <a:r>
              <a:rPr lang="es-ES" dirty="0" err="1"/>
              <a:t>arXiv</a:t>
            </a:r>
            <a:r>
              <a:rPr lang="es-ES" dirty="0"/>
              <a:t>: </a:t>
            </a:r>
            <a:r>
              <a:rPr lang="es-ES" dirty="0">
                <a:hlinkClick r:id="rId2"/>
              </a:rPr>
              <a:t>2304.08069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8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Comparación de los modelos entrenados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087344"/>
              </p:ext>
            </p:extLst>
          </p:nvPr>
        </p:nvGraphicFramePr>
        <p:xfrm>
          <a:off x="1071219" y="1065473"/>
          <a:ext cx="10049256" cy="2057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48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 err="1">
                          <a:solidFill>
                            <a:srgbClr val="D4A017"/>
                          </a:solidFill>
                          <a:latin typeface="Calibri"/>
                        </a:rPr>
                        <a:t>Epochs</a:t>
                      </a:r>
                      <a:endParaRPr lang="es-ES" sz="1200" b="1" noProof="0" dirty="0">
                        <a:solidFill>
                          <a:srgbClr val="D4A017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mAP50(B)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mAP50-95(B)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 err="1">
                          <a:solidFill>
                            <a:srgbClr val="D4A017"/>
                          </a:solidFill>
                          <a:latin typeface="Calibri"/>
                        </a:rPr>
                        <a:t>Precision</a:t>
                      </a:r>
                      <a:endParaRPr lang="es-ES" sz="1200" b="1" noProof="0" dirty="0">
                        <a:solidFill>
                          <a:srgbClr val="D4A017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 err="1">
                          <a:solidFill>
                            <a:srgbClr val="D4A017"/>
                          </a:solidFill>
                          <a:latin typeface="Calibri"/>
                        </a:rPr>
                        <a:t>Recall</a:t>
                      </a:r>
                      <a:endParaRPr lang="es-ES" sz="1200" b="1" noProof="0" dirty="0">
                        <a:solidFill>
                          <a:srgbClr val="D4A017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YOLOv8m-seg V3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0.979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0.961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0.968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0.962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36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YOLOv8m-seg V4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119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0.982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0.986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YOLOv8m-seg V5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0.981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0.986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YOLOv8m-seg V6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RT-DETR-L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0.916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0.975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7" name="Picture 6" descr="02_metricas_fi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042" y="3262065"/>
            <a:ext cx="7385609" cy="332161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12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98" y="545254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Convergencia sin </a:t>
            </a:r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overfitting</a:t>
            </a:r>
            <a:endParaRPr lang="es-ES" sz="3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199" y="1365804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Train vs Val </a:t>
            </a:r>
            <a:r>
              <a:rPr lang="es-ES" sz="1800" i="1" noProof="0" dirty="0" err="1">
                <a:solidFill>
                  <a:srgbClr val="B0B8C4"/>
                </a:solidFill>
                <a:latin typeface="Calibri"/>
              </a:rPr>
              <a:t>losses</a:t>
            </a:r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 — todas las curvas val siguen a </a:t>
            </a:r>
            <a:r>
              <a:rPr lang="es-ES" sz="1800" i="1" noProof="0" dirty="0" err="1">
                <a:solidFill>
                  <a:srgbClr val="B0B8C4"/>
                </a:solidFill>
                <a:latin typeface="Calibri"/>
              </a:rPr>
              <a:t>train</a:t>
            </a:r>
            <a:endParaRPr lang="es-ES" sz="1800" i="1" noProof="0" dirty="0">
              <a:solidFill>
                <a:srgbClr val="B0B8C4"/>
              </a:solidFill>
              <a:latin typeface="Calibri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CE05743-D72A-FA74-8B5D-9674BCAB6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00" y="2213449"/>
            <a:ext cx="5643588" cy="3592991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B26A4F5C-771A-2847-D5DF-7ADB25DF1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1247" y="2213449"/>
            <a:ext cx="5646128" cy="359299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13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Detección vs Segmentación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La segmentación va al mismo nivel que la detección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5080FA9-64F3-87F8-D9E4-BBF2D6E94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703" y="1508760"/>
            <a:ext cx="8219792" cy="523077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5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5504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Detección y </a:t>
            </a:r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trackeo</a:t>
            </a:r>
            <a:endParaRPr lang="es-ES" sz="3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FADA8EC8-442C-5DB8-03B4-BA11450A1CC7}"/>
              </a:ext>
            </a:extLst>
          </p:cNvPr>
          <p:cNvSpPr/>
          <p:nvPr/>
        </p:nvSpPr>
        <p:spPr>
          <a:xfrm>
            <a:off x="509540" y="1693562"/>
            <a:ext cx="10539155" cy="43109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lvl="1" indent="-342900">
              <a:lnSpc>
                <a:spcPct val="133000"/>
              </a:lnSpc>
              <a:buSzPct val="100000"/>
              <a:buFontTx/>
              <a:buChar char="•"/>
            </a:pPr>
            <a:r>
              <a:rPr lang="es-ES" dirty="0"/>
              <a:t>El modelo detecta cartas en cada </a:t>
            </a:r>
            <a:r>
              <a:rPr lang="es-ES" dirty="0" err="1"/>
              <a:t>frame</a:t>
            </a:r>
            <a:r>
              <a:rPr lang="es-ES" dirty="0"/>
              <a:t>: 15 veces por segundo → Hay que evitar falsos positivos</a:t>
            </a:r>
          </a:p>
          <a:p>
            <a:pPr marL="800100" lvl="1" indent="-342900">
              <a:lnSpc>
                <a:spcPct val="133000"/>
              </a:lnSpc>
              <a:buSzPct val="100000"/>
              <a:buFont typeface="Courier New" panose="02070309020205020404" pitchFamily="49" charset="0"/>
              <a:buChar char="o"/>
            </a:pPr>
            <a:endParaRPr lang="es-ES" sz="1600" b="1" dirty="0">
              <a:latin typeface="Manrope" pitchFamily="34" charset="0"/>
              <a:ea typeface="Manrope" pitchFamily="34" charset="-122"/>
              <a:cs typeface="Manrope" pitchFamily="34" charset="-120"/>
            </a:endParaRPr>
          </a:p>
          <a:p>
            <a:pPr marL="800100" lvl="1" indent="-342900">
              <a:lnSpc>
                <a:spcPct val="133000"/>
              </a:lnSpc>
              <a:buSzPct val="100000"/>
              <a:buFont typeface="Courier New" panose="02070309020205020404" pitchFamily="49" charset="0"/>
              <a:buChar char="o"/>
            </a:pPr>
            <a:r>
              <a:rPr lang="es-ES" sz="1600" b="1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ByteTrack</a:t>
            </a:r>
            <a:r>
              <a:rPr lang="es-ES" sz="1600" b="1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+ filtro de Kalman:</a:t>
            </a:r>
            <a:r>
              <a:rPr lang="es-ES" sz="160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r>
              <a:rPr lang="es-ES" sz="160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IDs</a:t>
            </a:r>
            <a:r>
              <a:rPr lang="es-ES" sz="160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estables incluso cuando YOLO falla un </a:t>
            </a:r>
            <a:r>
              <a:rPr lang="es-ES" sz="160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frame</a:t>
            </a:r>
            <a:r>
              <a:rPr lang="es-ES" sz="160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→ </a:t>
            </a:r>
            <a:r>
              <a:rPr lang="es-ES" sz="160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ByteTrack</a:t>
            </a:r>
            <a:r>
              <a:rPr lang="es-ES" sz="160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asocia una carta a una trayectoria modelada por el filtro.</a:t>
            </a:r>
          </a:p>
          <a:p>
            <a:pPr marL="800100" lvl="1" indent="-342900">
              <a:lnSpc>
                <a:spcPct val="133000"/>
              </a:lnSpc>
              <a:buSzPct val="100000"/>
              <a:buFont typeface="Courier New" panose="02070309020205020404" pitchFamily="49" charset="0"/>
              <a:buChar char="o"/>
            </a:pPr>
            <a:endParaRPr lang="es-ES" sz="1600" dirty="0"/>
          </a:p>
          <a:p>
            <a:pPr marL="800100" lvl="1" indent="-342900">
              <a:lnSpc>
                <a:spcPct val="133000"/>
              </a:lnSpc>
              <a:buSzPct val="100000"/>
              <a:buFont typeface="Courier New" panose="02070309020205020404" pitchFamily="49" charset="0"/>
              <a:buChar char="o"/>
            </a:pPr>
            <a:r>
              <a:rPr lang="es-ES" sz="1600" b="1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Debouncer</a:t>
            </a:r>
            <a:r>
              <a:rPr lang="es-ES" sz="1600" b="1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:</a:t>
            </a:r>
            <a:r>
              <a:rPr lang="es-ES" sz="160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r>
              <a:rPr lang="es-ES" dirty="0"/>
              <a:t>Una carta no se registra al detectarse: debe permanecer en la misma zona durante ≥ 1 segundo.</a:t>
            </a:r>
            <a:endParaRPr lang="es-ES" sz="1600" dirty="0">
              <a:latin typeface="Manrope" pitchFamily="34" charset="0"/>
              <a:ea typeface="Manrope" pitchFamily="34" charset="-122"/>
              <a:cs typeface="Manrope" pitchFamily="34" charset="-120"/>
            </a:endParaRPr>
          </a:p>
          <a:p>
            <a:pPr marL="800100" lvl="1" indent="-342900">
              <a:lnSpc>
                <a:spcPct val="133000"/>
              </a:lnSpc>
              <a:buSzPct val="100000"/>
              <a:buFont typeface="Courier New" panose="02070309020205020404" pitchFamily="49" charset="0"/>
              <a:buChar char="o"/>
            </a:pPr>
            <a:endParaRPr lang="es-ES" sz="1600" dirty="0"/>
          </a:p>
          <a:p>
            <a:pPr marL="800100" lvl="1" indent="-342900">
              <a:lnSpc>
                <a:spcPct val="133000"/>
              </a:lnSpc>
              <a:buSzPct val="100000"/>
              <a:buFont typeface="Courier New" panose="02070309020205020404" pitchFamily="49" charset="0"/>
              <a:buChar char="o"/>
            </a:pPr>
            <a:r>
              <a:rPr lang="es-ES" sz="1600" b="1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StateMachine</a:t>
            </a:r>
            <a:r>
              <a:rPr lang="es-ES" sz="1600" b="1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:</a:t>
            </a:r>
            <a:r>
              <a:rPr lang="es-ES" sz="160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Cada carta se registra exactamente una vez por mano, independientemente de los FPS</a:t>
            </a:r>
          </a:p>
          <a:p>
            <a:pPr marL="342900" indent="-342900">
              <a:lnSpc>
                <a:spcPct val="133000"/>
              </a:lnSpc>
              <a:buSzPct val="100000"/>
              <a:buFontTx/>
              <a:buChar char="•"/>
            </a:pPr>
            <a:endParaRPr lang="es-ES" dirty="0">
              <a:latin typeface="Manrope" pitchFamily="34" charset="0"/>
              <a:ea typeface="Manrope" pitchFamily="34" charset="-122"/>
              <a:cs typeface="Manrope" pitchFamily="34" charset="-120"/>
            </a:endParaRPr>
          </a:p>
          <a:p>
            <a:pPr marL="342900" indent="-342900">
              <a:lnSpc>
                <a:spcPct val="133000"/>
              </a:lnSpc>
              <a:buSzPct val="100000"/>
              <a:buFontTx/>
              <a:buChar char="•"/>
            </a:pPr>
            <a:r>
              <a:rPr lang="es-ES" dirty="0"/>
              <a:t>La mesa está dividida en regiones configurables: dealer, jugador 1, jugador 2…</a:t>
            </a:r>
          </a:p>
          <a:p>
            <a:pPr marL="342900" indent="-342900">
              <a:lnSpc>
                <a:spcPct val="133000"/>
              </a:lnSpc>
              <a:buSzPct val="100000"/>
              <a:buFontTx/>
              <a:buChar char="•"/>
            </a:pPr>
            <a:endParaRPr lang="es-ES" dirty="0"/>
          </a:p>
          <a:p>
            <a:pPr marL="800100" lvl="1" indent="-342900">
              <a:lnSpc>
                <a:spcPct val="133000"/>
              </a:lnSpc>
              <a:buSzPct val="100000"/>
              <a:buChar char="•"/>
            </a:pPr>
            <a:endParaRPr lang="es-ES" sz="1600" b="1" noProof="0" dirty="0">
              <a:latin typeface="Manrope" pitchFamily="34" charset="0"/>
              <a:ea typeface="Manrope" pitchFamily="34" charset="-122"/>
              <a:cs typeface="Manrope" pitchFamily="34" charset="-12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endParaRPr lang="es-ES" sz="160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3F02C-F29B-EBAB-28D5-F4DE18708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317737-111A-BEEC-DCEF-F27A1B635104}"/>
              </a:ext>
            </a:extLst>
          </p:cNvPr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5 / 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C894C7-1ED9-897D-743D-D7DE68A610C7}"/>
              </a:ext>
            </a:extLst>
          </p:cNvPr>
          <p:cNvSpPr txBox="1"/>
          <p:nvPr/>
        </p:nvSpPr>
        <p:spPr>
          <a:xfrm>
            <a:off x="640080" y="655504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Juego y web</a:t>
            </a:r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A65C7E14-6CF2-286F-9315-058C26CD2257}"/>
              </a:ext>
            </a:extLst>
          </p:cNvPr>
          <p:cNvSpPr/>
          <p:nvPr/>
        </p:nvSpPr>
        <p:spPr>
          <a:xfrm>
            <a:off x="280940" y="1400522"/>
            <a:ext cx="11343793" cy="43109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s-ES" dirty="0"/>
              <a:t>- El programa cuenta todas las cartas aparecidas y recomienda jugadas. Para cada turno del jugador se calculan </a:t>
            </a:r>
            <a:r>
              <a:rPr lang="es-ES" dirty="0" err="1"/>
              <a:t>EVs</a:t>
            </a:r>
            <a:r>
              <a:rPr lang="es-ES" dirty="0"/>
              <a:t>:</a:t>
            </a:r>
          </a:p>
          <a:p>
            <a:pPr lvl="1"/>
            <a:endParaRPr lang="es-ES" b="1" dirty="0"/>
          </a:p>
          <a:p>
            <a:pPr lvl="1"/>
            <a:r>
              <a:rPr lang="es-ES" b="1" dirty="0"/>
              <a:t>·EV STAND</a:t>
            </a:r>
            <a:r>
              <a:rPr lang="es-ES" dirty="0"/>
              <a:t>: simula todos los desenlaces posibles del dealer ponderados por probabilidad</a:t>
            </a:r>
          </a:p>
          <a:p>
            <a:pPr lvl="1"/>
            <a:r>
              <a:rPr lang="es-ES" b="1" dirty="0"/>
              <a:t>·EV HIT</a:t>
            </a:r>
            <a:r>
              <a:rPr lang="es-ES" dirty="0"/>
              <a:t>: recursivo  evalúa cada carta que puede llegar y elige el mejor </a:t>
            </a:r>
            <a:r>
              <a:rPr lang="es-ES" dirty="0" err="1"/>
              <a:t>sub-estado</a:t>
            </a:r>
            <a:endParaRPr lang="es-ES" dirty="0"/>
          </a:p>
          <a:p>
            <a:endParaRPr lang="es-ES" dirty="0"/>
          </a:p>
          <a:p>
            <a:r>
              <a:rPr lang="es-ES" dirty="0"/>
              <a:t>- Montamos una página web usando  </a:t>
            </a:r>
            <a:r>
              <a:rPr lang="es-ES" dirty="0" err="1"/>
              <a:t>FastAPI</a:t>
            </a:r>
            <a:r>
              <a:rPr lang="es-ES" dirty="0"/>
              <a:t> + </a:t>
            </a:r>
            <a:r>
              <a:rPr lang="es-ES" dirty="0" err="1"/>
              <a:t>Uvicorn</a:t>
            </a:r>
            <a:r>
              <a:rPr lang="es-ES" dirty="0"/>
              <a:t> donde se puede configurar las opciones de la partida y se almacena a información.</a:t>
            </a:r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marL="342900" indent="-342900">
              <a:lnSpc>
                <a:spcPct val="133000"/>
              </a:lnSpc>
              <a:buSzPct val="100000"/>
              <a:buFontTx/>
              <a:buChar char="•"/>
            </a:pPr>
            <a:endParaRPr lang="es-ES" dirty="0"/>
          </a:p>
          <a:p>
            <a:pPr marL="800100" lvl="1" indent="-342900">
              <a:lnSpc>
                <a:spcPct val="133000"/>
              </a:lnSpc>
              <a:buSzPct val="100000"/>
              <a:buChar char="•"/>
            </a:pPr>
            <a:endParaRPr lang="es-ES" sz="1600" b="1" noProof="0" dirty="0">
              <a:latin typeface="Manrope" pitchFamily="34" charset="0"/>
              <a:ea typeface="Manrope" pitchFamily="34" charset="-122"/>
              <a:cs typeface="Manrope" pitchFamily="34" charset="-12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endParaRPr lang="es-ES" sz="1600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1A042E3-83CC-9985-8CD5-D6BB49793E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08"/>
          <a:stretch>
            <a:fillRect/>
          </a:stretch>
        </p:blipFill>
        <p:spPr>
          <a:xfrm>
            <a:off x="2543079" y="3354493"/>
            <a:ext cx="7471295" cy="341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801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16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39" y="1115177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dirty="0">
                <a:solidFill>
                  <a:srgbClr val="D4A017"/>
                </a:solidFill>
                <a:latin typeface="Calibri"/>
              </a:rPr>
              <a:t>¿Qué hemos aportado?</a:t>
            </a:r>
            <a:endParaRPr lang="es-ES" sz="3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39" y="2282532"/>
            <a:ext cx="11094415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b="1" dirty="0" err="1"/>
              <a:t>Dataset</a:t>
            </a:r>
            <a:r>
              <a:rPr lang="es-ES" b="1" dirty="0"/>
              <a:t> propio de segmentación</a:t>
            </a:r>
            <a:r>
              <a:rPr lang="es-ES" dirty="0"/>
              <a:t> — máscaras generadas con SAM sobre un </a:t>
            </a:r>
            <a:r>
              <a:rPr lang="es-ES" dirty="0" err="1"/>
              <a:t>dataset</a:t>
            </a:r>
            <a:r>
              <a:rPr lang="es-ES" dirty="0"/>
              <a:t> de solo </a:t>
            </a:r>
            <a:r>
              <a:rPr lang="es-ES" dirty="0" err="1"/>
              <a:t>bboxes</a:t>
            </a:r>
            <a:r>
              <a:rPr lang="es-ES" dirty="0"/>
              <a:t>.</a:t>
            </a:r>
          </a:p>
          <a:p>
            <a:pPr>
              <a:spcAft>
                <a:spcPts val="600"/>
              </a:spcAft>
            </a:pPr>
            <a:endParaRPr lang="es-ES" sz="1700" b="0" noProof="0" dirty="0">
              <a:solidFill>
                <a:srgbClr val="FFFFFF"/>
              </a:solidFill>
              <a:latin typeface="Calibri"/>
            </a:endParaRPr>
          </a:p>
          <a:p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b="1" dirty="0"/>
              <a:t>Augmentations para cámara real</a:t>
            </a:r>
            <a:r>
              <a:rPr lang="es-ES" dirty="0"/>
              <a:t> — </a:t>
            </a:r>
            <a:r>
              <a:rPr lang="es-ES" dirty="0" err="1"/>
              <a:t>blur</a:t>
            </a:r>
            <a:r>
              <a:rPr lang="es-ES" dirty="0"/>
              <a:t>, ruido, JPEG y </a:t>
            </a:r>
            <a:r>
              <a:rPr lang="es-ES" dirty="0" err="1"/>
              <a:t>low</a:t>
            </a:r>
            <a:r>
              <a:rPr lang="es-ES" dirty="0"/>
              <a:t>-light → x3 </a:t>
            </a:r>
            <a:r>
              <a:rPr lang="es-ES" dirty="0" err="1"/>
              <a:t>train</a:t>
            </a:r>
            <a:r>
              <a:rPr lang="es-ES" dirty="0"/>
              <a:t>.</a:t>
            </a:r>
          </a:p>
          <a:p>
            <a:pPr>
              <a:spcAft>
                <a:spcPts val="600"/>
              </a:spcAft>
            </a:pPr>
            <a:endParaRPr lang="es-ES" sz="1700" b="0" noProof="0" dirty="0">
              <a:solidFill>
                <a:srgbClr val="FFFFFF"/>
              </a:solidFill>
              <a:latin typeface="Calibri"/>
            </a:endParaRPr>
          </a:p>
          <a:p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b="1" dirty="0"/>
              <a:t>Comparativa contra otra arquitectura</a:t>
            </a:r>
            <a:r>
              <a:rPr lang="es-ES" dirty="0"/>
              <a:t> — RT-DETR-L (</a:t>
            </a:r>
            <a:r>
              <a:rPr lang="es-ES" dirty="0" err="1"/>
              <a:t>transformer</a:t>
            </a:r>
            <a:r>
              <a:rPr lang="es-ES" dirty="0"/>
              <a:t>), no otra YOLO.</a:t>
            </a:r>
          </a:p>
          <a:p>
            <a:pPr>
              <a:spcAft>
                <a:spcPts val="600"/>
              </a:spcAft>
            </a:pPr>
            <a:endParaRPr lang="es-ES" sz="17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b="1" dirty="0"/>
              <a:t>Modelo elegido por métricas</a:t>
            </a:r>
            <a:r>
              <a:rPr lang="es-ES" dirty="0"/>
              <a:t> — V6 gana en </a:t>
            </a:r>
            <a:r>
              <a:rPr lang="es-ES" dirty="0" err="1"/>
              <a:t>mAP</a:t>
            </a:r>
            <a:r>
              <a:rPr lang="es-ES" dirty="0"/>
              <a:t>, latencia y tamaño.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22D02DB6-4F2D-3777-879B-AD3A3DAA4D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2300" r="812" b="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0" name="Rectangle 43">
            <a:extLst>
              <a:ext uri="{FF2B5EF4-FFF2-40B4-BE49-F238E27FC236}">
                <a16:creationId xmlns:a16="http://schemas.microsoft.com/office/drawing/2014/main" id="{B4916930-E76E-4100-9DCF-4981566A3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857375" y="1885950"/>
            <a:ext cx="8505825" cy="3152775"/>
          </a:xfrm>
          <a:prstGeom prst="rect">
            <a:avLst/>
          </a:prstGeom>
          <a:solidFill>
            <a:schemeClr val="bg1">
              <a:alpha val="75000"/>
            </a:schemeClr>
          </a:solidFill>
          <a:ln w="63500" cmpd="dbl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2276475" y="2247900"/>
            <a:ext cx="7581900" cy="2514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ES" sz="6600" b="1" noProof="0" dirty="0">
                <a:solidFill>
                  <a:srgbClr val="D4A017"/>
                </a:solidFill>
                <a:latin typeface="+mj-lt"/>
                <a:ea typeface="+mj-ea"/>
                <a:cs typeface="+mj-cs"/>
              </a:rPr>
              <a:t>Demo en vivo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>
            <a:extLst>
              <a:ext uri="{FF2B5EF4-FFF2-40B4-BE49-F238E27FC236}">
                <a16:creationId xmlns:a16="http://schemas.microsoft.com/office/drawing/2014/main" id="{BA33E0C9-537D-8AA5-D28C-2D7331D90279}"/>
              </a:ext>
            </a:extLst>
          </p:cNvPr>
          <p:cNvSpPr txBox="1"/>
          <p:nvPr/>
        </p:nvSpPr>
        <p:spPr>
          <a:xfrm>
            <a:off x="2276475" y="2247900"/>
            <a:ext cx="7581900" cy="2514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ES" sz="6600" b="1" noProof="0" dirty="0">
                <a:solidFill>
                  <a:srgbClr val="D4A017"/>
                </a:solidFill>
                <a:latin typeface="+mj-lt"/>
                <a:ea typeface="+mj-ea"/>
                <a:cs typeface="+mj-cs"/>
              </a:rPr>
              <a:t>Preguntas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31ADCC-FDB3-B628-8038-D9552B5D1D29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4101447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664</TotalTime>
  <Words>938</Words>
  <Application>Microsoft Office PowerPoint</Application>
  <PresentationFormat>Panorámica</PresentationFormat>
  <Paragraphs>192</Paragraphs>
  <Slides>18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4" baseType="lpstr">
      <vt:lpstr>Aptos</vt:lpstr>
      <vt:lpstr>Arial</vt:lpstr>
      <vt:lpstr>Calibri</vt:lpstr>
      <vt:lpstr>Courier New</vt:lpstr>
      <vt:lpstr>Manrope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Carlos Díaz Raposo</dc:creator>
  <cp:keywords/>
  <dc:description>generated using python-pptx</dc:description>
  <cp:lastModifiedBy>Carlos Díaz Raposo</cp:lastModifiedBy>
  <cp:revision>18</cp:revision>
  <dcterms:created xsi:type="dcterms:W3CDTF">2013-01-27T09:14:16Z</dcterms:created>
  <dcterms:modified xsi:type="dcterms:W3CDTF">2026-05-26T10:51:12Z</dcterms:modified>
  <cp:category/>
</cp:coreProperties>
</file>