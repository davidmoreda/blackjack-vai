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58" r:id="rId14"/>
    <p:sldId id="270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A017"/>
    <a:srgbClr val="A48A45"/>
    <a:srgbClr val="1A1F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7D1B322-211C-9672-281C-EC7AB4F233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7CE4C1-73C7-35C5-A46A-B5C51AB121C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9163F-9D37-43B0-A2E7-67D2E9525461}" type="datetimeFigureOut">
              <a:rPr lang="es-ES" smtClean="0"/>
              <a:t>25/05/2026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6638A11-6E3B-0D04-8432-7568EB6E86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8C53BF-A7E4-4BF8-7541-1DF7B7F94D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A583D3-CE98-4670-A637-D3EF9FB7D4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1138608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C0735-5C45-4FC1-A0D9-47D524C9ABD5}" type="datetimeFigureOut">
              <a:rPr lang="es-ES" smtClean="0"/>
              <a:t>25/05/2026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492C7-5479-4828-8A19-767A291850B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61121537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04.08069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35930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7200" b="1" noProof="0" dirty="0" err="1">
                <a:solidFill>
                  <a:srgbClr val="D4A017"/>
                </a:solidFill>
                <a:latin typeface="Calibri"/>
              </a:rPr>
              <a:t>BlackjackVAI</a:t>
            </a:r>
            <a:endParaRPr lang="es-ES" sz="7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23747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800" noProof="0" dirty="0">
                <a:solidFill>
                  <a:srgbClr val="FFFFFF"/>
                </a:solidFill>
                <a:latin typeface="Calibri"/>
              </a:rPr>
              <a:t>Sistema de visión artificial para blackjack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63403"/>
            <a:ext cx="4967898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200" b="1" noProof="0" dirty="0">
                <a:solidFill>
                  <a:srgbClr val="FFFFFF"/>
                </a:solidFill>
                <a:latin typeface="Calibri"/>
              </a:rPr>
              <a:t>Carlos Díaz · David Moreda · Javier Cerón</a:t>
            </a:r>
          </a:p>
          <a:p>
            <a:r>
              <a:rPr lang="es-ES" sz="1600" noProof="0" dirty="0">
                <a:solidFill>
                  <a:srgbClr val="B0B8C4"/>
                </a:solidFill>
                <a:latin typeface="Calibri"/>
              </a:rPr>
              <a:t>Máster en IA — Visión Artificial Avanzada — 2026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8BC43E6-4908-59BF-3CCC-D9E9F1F1D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76" y="0"/>
            <a:ext cx="2357124" cy="11533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98865"/>
            <a:ext cx="11277295" cy="70788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El</a:t>
            </a:r>
            <a:r>
              <a:rPr lang="es-ES" sz="4000" i="1" noProof="0" dirty="0">
                <a:solidFill>
                  <a:srgbClr val="B0B8C4"/>
                </a:solidFill>
                <a:latin typeface="Calibri"/>
              </a:rPr>
              <a:t> 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26950"/>
            <a:ext cx="8110727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Reconoce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54 clases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(52 cartas + dorso + Joker)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Sigue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turnos automáticamente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(jugador → dealer → fin de ronda)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Lleva el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marcador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(rondas ganadas / perdidas / empates)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Cuenta cartas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y mantiene la cuenta de la partida.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Sugerir la jugada óptima en cada turno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A0437779-11F4-8A11-B755-657F828E6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1000494"/>
            <a:ext cx="3429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352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Arquitectura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Tres capas claramente separadas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033272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60A5FA"/>
                </a:solidFill>
                <a:latin typeface="Calibri"/>
              </a:rPr>
              <a:t>VISIÓN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46120"/>
            <a:ext cx="1033272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4ADE80"/>
                </a:solidFill>
                <a:latin typeface="Calibri"/>
              </a:rPr>
              <a:t>JUEGO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1033272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D4A0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WEB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5504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Pipeline de detección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14D16445-C624-0387-CA40-D540A50140EC}"/>
              </a:ext>
            </a:extLst>
          </p:cNvPr>
          <p:cNvSpPr/>
          <p:nvPr/>
        </p:nvSpPr>
        <p:spPr>
          <a:xfrm>
            <a:off x="8086919" y="1250341"/>
            <a:ext cx="2646046" cy="17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s-ES" sz="2800" b="1" noProof="0" dirty="0">
                <a:latin typeface="Inter" pitchFamily="34" charset="0"/>
                <a:ea typeface="Inter" pitchFamily="34" charset="-122"/>
                <a:cs typeface="Inter" pitchFamily="34" charset="-120"/>
              </a:rPr>
              <a:t>Claves de robustez</a:t>
            </a:r>
            <a:endParaRPr lang="es-ES" sz="2800" b="1" noProof="0" dirty="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FADA8EC8-442C-5DB8-03B4-BA11450A1CC7}"/>
              </a:ext>
            </a:extLst>
          </p:cNvPr>
          <p:cNvSpPr/>
          <p:nvPr/>
        </p:nvSpPr>
        <p:spPr>
          <a:xfrm>
            <a:off x="7931470" y="1982641"/>
            <a:ext cx="4092889" cy="43109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s-ES" sz="1600" b="1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ByteTrack</a:t>
            </a:r>
            <a:r>
              <a:rPr lang="es-ES" sz="1600" b="1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+ filtro de Kalman:</a:t>
            </a:r>
            <a:r>
              <a:rPr lang="es-ES" sz="16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s-ES" sz="1600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IDs</a:t>
            </a:r>
            <a:r>
              <a:rPr lang="es-ES" sz="16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estables incluso cuando YOLO falla un </a:t>
            </a:r>
            <a:r>
              <a:rPr lang="es-ES" sz="1600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frame</a:t>
            </a:r>
            <a:r>
              <a:rPr lang="es-ES" sz="16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→ elimina parpadeo sin ghosting</a:t>
            </a: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s-ES" sz="1600" noProof="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s-ES" sz="1600" b="1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Debouncer</a:t>
            </a:r>
            <a:r>
              <a:rPr lang="es-ES" sz="1600" b="1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de 1 s:</a:t>
            </a:r>
            <a:r>
              <a:rPr lang="es-ES" sz="16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filtra falsos positivos por oclusión momentánea</a:t>
            </a: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s-ES" sz="1600" noProof="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s-ES" sz="1600" b="1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StateMachine</a:t>
            </a:r>
            <a:r>
              <a:rPr lang="es-ES" sz="1600" b="1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:</a:t>
            </a:r>
            <a:r>
              <a:rPr lang="es-ES" sz="16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cada carta se registra exactamente una vez por mano, independientemente de los FPS</a:t>
            </a: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s-ES" sz="1600" noProof="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s-ES" sz="1600" b="1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imgsz</a:t>
            </a:r>
            <a:r>
              <a:rPr lang="es-ES" sz="1600" b="1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=1280</a:t>
            </a:r>
            <a:r>
              <a:rPr lang="es-ES" sz="16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en producción para máxima detección a distancia</a:t>
            </a:r>
            <a:endParaRPr lang="es-ES" sz="1600" noProof="0" dirty="0"/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AFCBC3EF-79CB-A7F9-1A1F-9A4EE7C4B7BF}"/>
              </a:ext>
            </a:extLst>
          </p:cNvPr>
          <p:cNvGrpSpPr/>
          <p:nvPr/>
        </p:nvGrpSpPr>
        <p:grpSpPr>
          <a:xfrm>
            <a:off x="536216" y="1883664"/>
            <a:ext cx="6837369" cy="4331846"/>
            <a:chOff x="536216" y="2047406"/>
            <a:chExt cx="6837369" cy="3036657"/>
          </a:xfrm>
        </p:grpSpPr>
        <p:pic>
          <p:nvPicPr>
            <p:cNvPr id="22" name="Image 0" descr="preencoded.png">
              <a:extLst>
                <a:ext uri="{FF2B5EF4-FFF2-40B4-BE49-F238E27FC236}">
                  <a16:creationId xmlns:a16="http://schemas.microsoft.com/office/drawing/2014/main" id="{69654B12-3410-5C4B-E14F-D4F337B5C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D4A017">
                  <a:tint val="45000"/>
                  <a:satMod val="400000"/>
                </a:srgbClr>
              </a:duotone>
            </a:blip>
            <a:stretch>
              <a:fillRect/>
            </a:stretch>
          </p:blipFill>
          <p:spPr>
            <a:xfrm>
              <a:off x="536216" y="2047406"/>
              <a:ext cx="6837369" cy="3036657"/>
            </a:xfrm>
            <a:prstGeom prst="rect">
              <a:avLst/>
            </a:prstGeom>
          </p:spPr>
        </p:pic>
        <p:sp>
          <p:nvSpPr>
            <p:cNvPr id="23" name="Text 1">
              <a:extLst>
                <a:ext uri="{FF2B5EF4-FFF2-40B4-BE49-F238E27FC236}">
                  <a16:creationId xmlns:a16="http://schemas.microsoft.com/office/drawing/2014/main" id="{201693D6-2A05-1E87-5C73-8BE1C73EA3E5}"/>
                </a:ext>
              </a:extLst>
            </p:cNvPr>
            <p:cNvSpPr/>
            <p:nvPr/>
          </p:nvSpPr>
          <p:spPr>
            <a:xfrm>
              <a:off x="1976737" y="4061219"/>
              <a:ext cx="1317116" cy="17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ZoneManager</a:t>
              </a:r>
              <a:endParaRPr lang="es-ES" sz="1000" noProof="0" dirty="0"/>
            </a:p>
          </p:txBody>
        </p:sp>
        <p:sp>
          <p:nvSpPr>
            <p:cNvPr id="24" name="Text 2">
              <a:extLst>
                <a:ext uri="{FF2B5EF4-FFF2-40B4-BE49-F238E27FC236}">
                  <a16:creationId xmlns:a16="http://schemas.microsoft.com/office/drawing/2014/main" id="{28378A56-452B-692B-DC45-10444507856F}"/>
                </a:ext>
              </a:extLst>
            </p:cNvPr>
            <p:cNvSpPr/>
            <p:nvPr/>
          </p:nvSpPr>
          <p:spPr>
            <a:xfrm>
              <a:off x="2127679" y="4283425"/>
              <a:ext cx="1015233" cy="276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Asigna </a:t>
              </a:r>
              <a:r>
                <a:rPr lang="es-ES" sz="1000" noProof="0" dirty="0" err="1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bbox</a:t>
              </a: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a dealer / </a:t>
              </a:r>
              <a:r>
                <a:rPr lang="es-ES" sz="1000" noProof="0" dirty="0" err="1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player_N</a:t>
              </a:r>
              <a:endParaRPr lang="es-ES" sz="1000" noProof="0" dirty="0"/>
            </a:p>
          </p:txBody>
        </p:sp>
        <p:sp>
          <p:nvSpPr>
            <p:cNvPr id="25" name="Text 3">
              <a:extLst>
                <a:ext uri="{FF2B5EF4-FFF2-40B4-BE49-F238E27FC236}">
                  <a16:creationId xmlns:a16="http://schemas.microsoft.com/office/drawing/2014/main" id="{E31CF6A7-3459-32BA-D273-066AB8D627DC}"/>
                </a:ext>
              </a:extLst>
            </p:cNvPr>
            <p:cNvSpPr/>
            <p:nvPr/>
          </p:nvSpPr>
          <p:spPr>
            <a:xfrm>
              <a:off x="4583594" y="4061219"/>
              <a:ext cx="1317116" cy="17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StateMachine</a:t>
              </a:r>
              <a:endParaRPr lang="es-ES" sz="1000" noProof="0" dirty="0"/>
            </a:p>
          </p:txBody>
        </p:sp>
        <p:sp>
          <p:nvSpPr>
            <p:cNvPr id="26" name="Text 4">
              <a:extLst>
                <a:ext uri="{FF2B5EF4-FFF2-40B4-BE49-F238E27FC236}">
                  <a16:creationId xmlns:a16="http://schemas.microsoft.com/office/drawing/2014/main" id="{087C7552-990E-8087-9CCC-5DDD1D404B60}"/>
                </a:ext>
              </a:extLst>
            </p:cNvPr>
            <p:cNvSpPr/>
            <p:nvPr/>
          </p:nvSpPr>
          <p:spPr>
            <a:xfrm>
              <a:off x="4734536" y="4283425"/>
              <a:ext cx="1015233" cy="276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Registra carta una vez por mano</a:t>
              </a:r>
              <a:endParaRPr lang="es-ES" sz="1000" noProof="0" dirty="0"/>
            </a:p>
          </p:txBody>
        </p:sp>
        <p:sp>
          <p:nvSpPr>
            <p:cNvPr id="27" name="Text 5">
              <a:extLst>
                <a:ext uri="{FF2B5EF4-FFF2-40B4-BE49-F238E27FC236}">
                  <a16:creationId xmlns:a16="http://schemas.microsoft.com/office/drawing/2014/main" id="{DC621F54-2F72-8B40-F227-7AE12BE39124}"/>
                </a:ext>
              </a:extLst>
            </p:cNvPr>
            <p:cNvSpPr/>
            <p:nvPr/>
          </p:nvSpPr>
          <p:spPr>
            <a:xfrm>
              <a:off x="676544" y="2296738"/>
              <a:ext cx="1317116" cy="17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CardDetector</a:t>
              </a:r>
              <a:endParaRPr lang="es-ES" sz="1000" noProof="0" dirty="0"/>
            </a:p>
          </p:txBody>
        </p:sp>
        <p:sp>
          <p:nvSpPr>
            <p:cNvPr id="28" name="Text 6">
              <a:extLst>
                <a:ext uri="{FF2B5EF4-FFF2-40B4-BE49-F238E27FC236}">
                  <a16:creationId xmlns:a16="http://schemas.microsoft.com/office/drawing/2014/main" id="{DC269C34-F9A7-4ECA-4ED9-9063795A8270}"/>
                </a:ext>
              </a:extLst>
            </p:cNvPr>
            <p:cNvSpPr/>
            <p:nvPr/>
          </p:nvSpPr>
          <p:spPr>
            <a:xfrm>
              <a:off x="827486" y="2518944"/>
              <a:ext cx="1015233" cy="4151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YOLOv8m-seg + </a:t>
              </a:r>
              <a:r>
                <a:rPr lang="es-ES" sz="1000" noProof="0" dirty="0" err="1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ByteTrack</a:t>
              </a: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</a:t>
              </a:r>
              <a:r>
                <a:rPr lang="es-ES" sz="1000" noProof="0" dirty="0" err="1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conf</a:t>
              </a: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=0.55</a:t>
              </a:r>
              <a:endParaRPr lang="es-ES" sz="1000" noProof="0" dirty="0"/>
            </a:p>
          </p:txBody>
        </p:sp>
        <p:sp>
          <p:nvSpPr>
            <p:cNvPr id="29" name="Text 7">
              <a:extLst>
                <a:ext uri="{FF2B5EF4-FFF2-40B4-BE49-F238E27FC236}">
                  <a16:creationId xmlns:a16="http://schemas.microsoft.com/office/drawing/2014/main" id="{9AE123B4-5BBC-80AA-C82C-AEC149CD40CC}"/>
                </a:ext>
              </a:extLst>
            </p:cNvPr>
            <p:cNvSpPr/>
            <p:nvPr/>
          </p:nvSpPr>
          <p:spPr>
            <a:xfrm>
              <a:off x="5845059" y="2292070"/>
              <a:ext cx="1317116" cy="17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CardCounter</a:t>
              </a:r>
              <a:endParaRPr lang="es-ES" sz="1000" noProof="0" dirty="0"/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09AF9F6C-E38E-CFD0-1A03-4B803CBDF85C}"/>
                </a:ext>
              </a:extLst>
            </p:cNvPr>
            <p:cNvSpPr/>
            <p:nvPr/>
          </p:nvSpPr>
          <p:spPr>
            <a:xfrm>
              <a:off x="5996001" y="2456248"/>
              <a:ext cx="1015233" cy="276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Actualiza Hi-Lo / KO / Omega II</a:t>
              </a:r>
              <a:endParaRPr lang="es-ES" sz="1000" noProof="0" dirty="0"/>
            </a:p>
          </p:txBody>
        </p:sp>
        <p:sp>
          <p:nvSpPr>
            <p:cNvPr id="31" name="Text 9">
              <a:extLst>
                <a:ext uri="{FF2B5EF4-FFF2-40B4-BE49-F238E27FC236}">
                  <a16:creationId xmlns:a16="http://schemas.microsoft.com/office/drawing/2014/main" id="{F4F64581-CF18-15A3-0194-8B2A8FBFCBF0}"/>
                </a:ext>
              </a:extLst>
            </p:cNvPr>
            <p:cNvSpPr/>
            <p:nvPr/>
          </p:nvSpPr>
          <p:spPr>
            <a:xfrm>
              <a:off x="3447286" y="2296738"/>
              <a:ext cx="1015233" cy="345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CardDebouncer</a:t>
              </a:r>
              <a:endParaRPr lang="es-ES" sz="1000" noProof="0" dirty="0"/>
            </a:p>
          </p:txBody>
        </p:sp>
        <p:sp>
          <p:nvSpPr>
            <p:cNvPr id="32" name="Text 10">
              <a:extLst>
                <a:ext uri="{FF2B5EF4-FFF2-40B4-BE49-F238E27FC236}">
                  <a16:creationId xmlns:a16="http://schemas.microsoft.com/office/drawing/2014/main" id="{27111108-4608-C477-2E31-1F5C860EB37E}"/>
                </a:ext>
              </a:extLst>
            </p:cNvPr>
            <p:cNvSpPr/>
            <p:nvPr/>
          </p:nvSpPr>
          <p:spPr>
            <a:xfrm>
              <a:off x="3447285" y="2501960"/>
              <a:ext cx="1015233" cy="4151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1 segundo continuo de presencia</a:t>
              </a:r>
              <a:endParaRPr lang="es-ES" sz="1000" noProof="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 </a:t>
            </a:r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BlackjackVAI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090865"/>
              </p:ext>
            </p:extLst>
          </p:nvPr>
        </p:nvGraphicFramePr>
        <p:xfrm>
          <a:off x="640080" y="18288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Imgs</a:t>
                      </a:r>
                      <a:endParaRPr lang="es-ES" sz="15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Decisión clave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~10 506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Grayscale</a:t>
                      </a:r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+ </a:t>
                      </a:r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Tiling</a:t>
                      </a:r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2×2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No detecta en webcam color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3 741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Resize</a:t>
                      </a:r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640×640 limpio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mAP50 = 0.979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V4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3 741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Letterbox</a:t>
                      </a:r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sin distorsión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mAP50 = </a:t>
                      </a:r>
                      <a:r>
                        <a:rPr lang="es-ES" sz="1500" b="0" noProof="0" dirty="0">
                          <a:solidFill>
                            <a:srgbClr val="00B050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9441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5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500" b="0" noProof="0" dirty="0">
                <a:solidFill>
                  <a:srgbClr val="FFFFFF"/>
                </a:solidFill>
                <a:latin typeface="Calibri"/>
              </a:rPr>
              <a:t>Split: 80% </a:t>
            </a:r>
            <a:r>
              <a:rPr lang="es-ES" sz="1500" b="0" noProof="0" dirty="0" err="1">
                <a:solidFill>
                  <a:srgbClr val="FFFFFF"/>
                </a:solidFill>
                <a:latin typeface="Calibri"/>
              </a:rPr>
              <a:t>train</a:t>
            </a:r>
            <a:r>
              <a:rPr lang="es-ES" sz="1500" b="0" noProof="0" dirty="0">
                <a:solidFill>
                  <a:srgbClr val="FFFFFF"/>
                </a:solidFill>
                <a:latin typeface="Calibri"/>
              </a:rPr>
              <a:t> / 20% val — etiquetado: polígonos de segmentación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7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Augmentations para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Augmentation agresiva = robustez a cámara lejana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780829"/>
              </p:ext>
            </p:extLst>
          </p:nvPr>
        </p:nvGraphicFramePr>
        <p:xfrm>
          <a:off x="64008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Aug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V4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scale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Cartas desde el 15% del tamaño original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copy_paste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Variedad de fondos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erasing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Oclusión por manos / fichas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perspective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0.001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Ángulo cenital de webcam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shear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Perspectiva lateral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6">
            <a:extLst>
              <a:ext uri="{FF2B5EF4-FFF2-40B4-BE49-F238E27FC236}">
                <a16:creationId xmlns:a16="http://schemas.microsoft.com/office/drawing/2014/main" id="{BCDF8CE8-25E2-ACCF-121A-87CB424DB07B}"/>
              </a:ext>
            </a:extLst>
          </p:cNvPr>
          <p:cNvSpPr txBox="1"/>
          <p:nvPr/>
        </p:nvSpPr>
        <p:spPr>
          <a:xfrm>
            <a:off x="640080" y="5096217"/>
            <a:ext cx="11094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i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s-ES" sz="1600" b="1" dirty="0">
                <a:solidFill>
                  <a:srgbClr val="D4A017"/>
                </a:solidFill>
              </a:rPr>
              <a:t>•</a:t>
            </a:r>
            <a:r>
              <a:rPr lang="es-ES" sz="1600" b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s-ES" sz="1600" i="1" dirty="0" err="1"/>
              <a:t>scale</a:t>
            </a:r>
            <a:r>
              <a:rPr lang="es-ES" sz="1600" i="1" dirty="0"/>
              <a:t>=0.85 → el modelo entrena viendo cartas desde 15% hasta 185% del tamaño original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8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Comparación de los modelos entrenados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87344"/>
              </p:ext>
            </p:extLst>
          </p:nvPr>
        </p:nvGraphicFramePr>
        <p:xfrm>
          <a:off x="1071219" y="1065473"/>
          <a:ext cx="10049256" cy="2057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48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Epochs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mAP50(B)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mAP50-95(B)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Precision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Recall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V3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36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V4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0.982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YOLOv8m-seg V5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V6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RT-DETR-L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7" name="Picture 6" descr="02_metrica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042" y="3262065"/>
            <a:ext cx="7385609" cy="33216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9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¿Por qué un segundo modelo? RT-DETR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Validar la elección con un paradigma diferente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471459"/>
              </p:ext>
            </p:extLst>
          </p:nvPr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YOLOv8m-seg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RT-DETR-L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Familia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CNN clásica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Transformer (DETR family)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CSPDarknet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HGNetv2 + Transformer enc/dec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Anchors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Postproceso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NMS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Hungarian matching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Paper claim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"bate a YOLOv8 en COCO“ </a:t>
                      </a:r>
                      <a:r>
                        <a:rPr lang="es-ES" sz="1500" b="0" noProof="0" dirty="0">
                          <a:solidFill>
                            <a:srgbClr val="FF0000"/>
                          </a:solidFill>
                          <a:latin typeface="Calibri"/>
                        </a:rPr>
                        <a:t>*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68D4B253-8B19-E1BF-7800-0EC04505C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401435"/>
            <a:ext cx="7351776" cy="365125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*</a:t>
            </a:r>
            <a:r>
              <a:rPr lang="en-US" dirty="0"/>
              <a:t> Zhao et al., "DETRs Beat YOLOs on Real-time Object Detection", CVPR 2024. </a:t>
            </a:r>
            <a:r>
              <a:rPr lang="es-ES" dirty="0" err="1"/>
              <a:t>arXiv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2304.08069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10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Comparativa final — calidad + coste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Modelos al techo en mAP50, diferencias en mAP50-95 y FPS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964865"/>
              </p:ext>
            </p:extLst>
          </p:nvPr>
        </p:nvGraphicFramePr>
        <p:xfrm>
          <a:off x="457200" y="2066544"/>
          <a:ext cx="1127729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90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590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YOLO V6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RT-DETR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mAP50(B)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mAP50-95(B)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  <a:endParaRPr lang="es-ES" sz="13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  <a:endParaRPr lang="es-ES" sz="13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0.975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(M)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27.3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32.1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FPS @ 640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23.9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Latencia (ms)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11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Modelo de producción — YOLOv8m-seg 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El que está corriendo en la app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1254D448-F4F0-5478-39D4-B6C5B6CAAFB1}"/>
              </a:ext>
            </a:extLst>
          </p:cNvPr>
          <p:cNvGrpSpPr/>
          <p:nvPr/>
        </p:nvGrpSpPr>
        <p:grpSpPr>
          <a:xfrm>
            <a:off x="457200" y="1783080"/>
            <a:ext cx="11064240" cy="3703320"/>
            <a:chOff x="457200" y="1783080"/>
            <a:chExt cx="4389120" cy="3429000"/>
          </a:xfrm>
        </p:grpSpPr>
        <p:sp>
          <p:nvSpPr>
            <p:cNvPr id="6" name="Rounded Rectangle 5"/>
            <p:cNvSpPr/>
            <p:nvPr/>
          </p:nvSpPr>
          <p:spPr>
            <a:xfrm>
              <a:off x="457200" y="178308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D4A01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>
                  <a:solidFill>
                    <a:srgbClr val="B0B8C4"/>
                  </a:solidFill>
                  <a:latin typeface="Calibri"/>
                </a:rPr>
                <a:t>mAP50</a:t>
              </a:r>
            </a:p>
            <a:p>
              <a:pPr algn="ctr"/>
              <a:r>
                <a:rPr lang="es-ES" sz="2800" b="1" noProof="0" dirty="0">
                  <a:solidFill>
                    <a:srgbClr val="D4A017"/>
                  </a:solidFill>
                  <a:latin typeface="Calibri"/>
                </a:rPr>
                <a:t>0.9860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743200" y="178308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D4A01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>
                  <a:solidFill>
                    <a:srgbClr val="B0B8C4"/>
                  </a:solidFill>
                  <a:latin typeface="Calibri"/>
                </a:rPr>
                <a:t>mAP50-95</a:t>
              </a:r>
            </a:p>
            <a:p>
              <a:pPr algn="ctr"/>
              <a:r>
                <a:rPr lang="es-ES" sz="2800" b="1" noProof="0" dirty="0">
                  <a:solidFill>
                    <a:srgbClr val="D4A017"/>
                  </a:solidFill>
                  <a:latin typeface="Calibri"/>
                </a:rPr>
                <a:t>0.9799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" y="297180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4ADE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 err="1">
                  <a:solidFill>
                    <a:srgbClr val="B0B8C4"/>
                  </a:solidFill>
                  <a:latin typeface="Calibri"/>
                </a:rPr>
                <a:t>Precision</a:t>
              </a:r>
              <a:endParaRPr lang="es-ES" sz="1300" noProof="0" dirty="0">
                <a:solidFill>
                  <a:srgbClr val="B0B8C4"/>
                </a:solidFill>
                <a:latin typeface="Calibri"/>
              </a:endParaRPr>
            </a:p>
            <a:p>
              <a:pPr algn="ctr"/>
              <a:r>
                <a:rPr lang="es-ES" sz="2800" b="1" noProof="0" dirty="0">
                  <a:solidFill>
                    <a:srgbClr val="4ADE80"/>
                  </a:solidFill>
                  <a:latin typeface="Calibri"/>
                </a:rPr>
                <a:t>0.9768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743200" y="297180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4ADE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 err="1">
                  <a:solidFill>
                    <a:srgbClr val="B0B8C4"/>
                  </a:solidFill>
                  <a:latin typeface="Calibri"/>
                </a:rPr>
                <a:t>Recall</a:t>
              </a:r>
              <a:endParaRPr lang="es-ES" sz="1300" noProof="0" dirty="0">
                <a:solidFill>
                  <a:srgbClr val="B0B8C4"/>
                </a:solidFill>
                <a:latin typeface="Calibri"/>
              </a:endParaRPr>
            </a:p>
            <a:p>
              <a:pPr algn="ctr"/>
              <a:r>
                <a:rPr lang="es-ES" sz="2800" b="1" noProof="0" dirty="0">
                  <a:solidFill>
                    <a:srgbClr val="4ADE80"/>
                  </a:solidFill>
                  <a:latin typeface="Calibri"/>
                </a:rPr>
                <a:t>0.9855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57200" y="416052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60A5F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>
                  <a:solidFill>
                    <a:srgbClr val="B0B8C4"/>
                  </a:solidFill>
                  <a:latin typeface="Calibri"/>
                </a:rPr>
                <a:t>FPS @ 640</a:t>
              </a:r>
            </a:p>
            <a:p>
              <a:pPr algn="ctr"/>
              <a:r>
                <a:rPr lang="es-ES" sz="2800" b="1" noProof="0" dirty="0">
                  <a:solidFill>
                    <a:srgbClr val="60A5FA"/>
                  </a:solidFill>
                  <a:latin typeface="Calibri"/>
                </a:rPr>
                <a:t>23.9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743200" y="416052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B0B8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>
                  <a:solidFill>
                    <a:srgbClr val="B0B8C4"/>
                  </a:solidFill>
                  <a:latin typeface="Calibri"/>
                </a:rPr>
                <a:t>Tamaño</a:t>
              </a:r>
            </a:p>
            <a:p>
              <a:pPr algn="ctr"/>
              <a:r>
                <a:rPr lang="es-ES" sz="2800" b="1" noProof="0" dirty="0">
                  <a:solidFill>
                    <a:srgbClr val="B0B8C4"/>
                  </a:solidFill>
                  <a:latin typeface="Calibri"/>
                </a:rPr>
                <a:t>55 MB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Convergencia sin </a:t>
            </a:r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overfitting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Train vs Val </a:t>
            </a:r>
            <a:r>
              <a:rPr lang="es-ES" sz="1800" i="1" noProof="0" dirty="0" err="1">
                <a:solidFill>
                  <a:srgbClr val="B0B8C4"/>
                </a:solidFill>
                <a:latin typeface="Calibri"/>
              </a:rPr>
              <a:t>losses</a:t>
            </a:r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 — todas las curvas val siguen a </a:t>
            </a:r>
            <a:r>
              <a:rPr lang="es-ES" sz="1800" i="1" noProof="0" dirty="0" err="1">
                <a:solidFill>
                  <a:srgbClr val="B0B8C4"/>
                </a:solidFill>
                <a:latin typeface="Calibri"/>
              </a:rPr>
              <a:t>train</a:t>
            </a:r>
            <a:endParaRPr lang="es-ES" sz="1800" i="1" noProof="0" dirty="0">
              <a:solidFill>
                <a:srgbClr val="B0B8C4"/>
              </a:solidFill>
              <a:latin typeface="Calibri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AD11F1-ECE8-04E5-F80C-E676B8E2B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487" y="1508760"/>
            <a:ext cx="7614719" cy="50324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Detección vs Segmentación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La segmentación va al mismo nivel que la detección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485E2E3-0DCE-6A85-C6D6-D145B21F3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99" y="1508760"/>
            <a:ext cx="9967296" cy="491506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22D02DB6-4F2D-3777-879B-AD3A3DAA4D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2300" r="812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0" name="Rectangle 43">
            <a:extLst>
              <a:ext uri="{FF2B5EF4-FFF2-40B4-BE49-F238E27FC236}">
                <a16:creationId xmlns:a16="http://schemas.microsoft.com/office/drawing/2014/main" id="{B4916930-E76E-4100-9DCF-4981566A3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57375" y="1885950"/>
            <a:ext cx="8505825" cy="3152775"/>
          </a:xfrm>
          <a:prstGeom prst="rect">
            <a:avLst/>
          </a:prstGeom>
          <a:solidFill>
            <a:schemeClr val="bg1">
              <a:alpha val="75000"/>
            </a:schemeClr>
          </a:solidFill>
          <a:ln w="63500" cmpd="dbl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276475" y="2247900"/>
            <a:ext cx="75819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ES" sz="6600" b="1" noProof="0" dirty="0">
                <a:solidFill>
                  <a:srgbClr val="D4A017"/>
                </a:solidFill>
                <a:latin typeface="+mj-lt"/>
                <a:ea typeface="+mj-ea"/>
                <a:cs typeface="+mj-cs"/>
              </a:rPr>
              <a:t>Demo en vivo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Limitaciones actuales y trabajos futuros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Dónde el sistema todavía sufre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94415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Cartas dobladas / sucias / manchadas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no se han probado sistemáticamente</a:t>
            </a:r>
          </a:p>
          <a:p>
            <a:pPr>
              <a:spcAft>
                <a:spcPts val="600"/>
              </a:spcAft>
            </a:pPr>
            <a:endParaRPr lang="es-ES" sz="18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Zonas fijas en mesa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— no detecta jugadores arbitrarios, asume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layout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pre-configurado</a:t>
            </a:r>
            <a:endParaRPr lang="es-ES" sz="18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18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No </a:t>
            </a:r>
            <a:r>
              <a:rPr lang="es-ES" sz="1800" b="1" noProof="0" dirty="0" err="1">
                <a:solidFill>
                  <a:srgbClr val="FFFFFF"/>
                </a:solidFill>
                <a:latin typeface="Calibri"/>
              </a:rPr>
              <a:t>re-identificación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— una carta que sale y vuelve al zapato cuenta como dos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6DA876A-28D5-D466-4E64-D56385C249C4}"/>
              </a:ext>
            </a:extLst>
          </p:cNvPr>
          <p:cNvSpPr txBox="1"/>
          <p:nvPr/>
        </p:nvSpPr>
        <p:spPr>
          <a:xfrm>
            <a:off x="457199" y="3879712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Próximas iteraciones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53C7D642-B603-83FF-8412-6929D9A453C6}"/>
              </a:ext>
            </a:extLst>
          </p:cNvPr>
          <p:cNvSpPr txBox="1"/>
          <p:nvPr/>
        </p:nvSpPr>
        <p:spPr>
          <a:xfrm>
            <a:off x="457200" y="4656511"/>
            <a:ext cx="110944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SPLIT con EV real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— modelar dos manos independientes en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EVCalculator</a:t>
            </a:r>
            <a:endParaRPr lang="es-ES" sz="18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18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Fine-</a:t>
            </a:r>
            <a:r>
              <a:rPr lang="es-ES" sz="1800" b="1" noProof="0" dirty="0" err="1">
                <a:solidFill>
                  <a:srgbClr val="FFFFFF"/>
                </a:solidFill>
                <a:latin typeface="Calibri"/>
              </a:rPr>
              <a:t>tuning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 RT-DETR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— lr0 específico para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small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objects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+ más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epochs</a:t>
            </a:r>
            <a:endParaRPr lang="es-ES" sz="1800" b="0" noProof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Lo que hemos demostrado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94415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Pipeline completo </a:t>
            </a:r>
            <a:r>
              <a:rPr lang="es-ES" sz="1700" b="1" noProof="0" dirty="0" err="1">
                <a:solidFill>
                  <a:srgbClr val="FFFFFF"/>
                </a:solidFill>
                <a:latin typeface="Calibri"/>
              </a:rPr>
              <a:t>end-to-end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s-ES" sz="1700" b="0" noProof="0" dirty="0" err="1">
                <a:solidFill>
                  <a:srgbClr val="FFFFFF"/>
                </a:solidFill>
                <a:latin typeface="Calibri"/>
              </a:rPr>
              <a:t>dataset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→ entreno → comparativa → app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Modelo robusto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— YOLOv8m-seg V6 con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mAP50-95 = 0.98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sobre 54 clases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Comparativa rigurosa CNN vs Transformer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— misma </a:t>
            </a:r>
            <a:r>
              <a:rPr lang="es-ES" sz="1700" b="0" noProof="0" dirty="0" err="1">
                <a:solidFill>
                  <a:srgbClr val="FFFFFF"/>
                </a:solidFill>
                <a:latin typeface="Calibri"/>
              </a:rPr>
              <a:t>config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, métrica objetiva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App real-time funcional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Reproducibilidad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s-ES" sz="1700" b="0" noProof="0" dirty="0" err="1">
                <a:solidFill>
                  <a:srgbClr val="FFFFFF"/>
                </a:solidFill>
                <a:latin typeface="Calibri"/>
              </a:rPr>
              <a:t>MLflow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con 5 </a:t>
            </a:r>
            <a:r>
              <a:rPr lang="es-ES" sz="1700" b="0" noProof="0" dirty="0" err="1">
                <a:solidFill>
                  <a:srgbClr val="FFFFFF"/>
                </a:solidFill>
                <a:latin typeface="Calibri"/>
              </a:rPr>
              <a:t>runs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trazados, notebooks ejecutables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>
            <a:extLst>
              <a:ext uri="{FF2B5EF4-FFF2-40B4-BE49-F238E27FC236}">
                <a16:creationId xmlns:a16="http://schemas.microsoft.com/office/drawing/2014/main" id="{BA33E0C9-537D-8AA5-D28C-2D7331D90279}"/>
              </a:ext>
            </a:extLst>
          </p:cNvPr>
          <p:cNvSpPr txBox="1"/>
          <p:nvPr/>
        </p:nvSpPr>
        <p:spPr>
          <a:xfrm>
            <a:off x="2276475" y="2247900"/>
            <a:ext cx="75819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ES" sz="6600" b="1" noProof="0" dirty="0">
                <a:solidFill>
                  <a:srgbClr val="D4A017"/>
                </a:solidFill>
                <a:latin typeface="+mj-lt"/>
                <a:ea typeface="+mj-ea"/>
                <a:cs typeface="+mj-cs"/>
              </a:rPr>
              <a:t>Preguntas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1ADCC-FDB3-B628-8038-D9552B5D1D29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101447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733</Words>
  <Application>Microsoft Office PowerPoint</Application>
  <PresentationFormat>Panorámica</PresentationFormat>
  <Paragraphs>222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Inter</vt:lpstr>
      <vt:lpstr>Manrope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Carlos Díaz Raposo</dc:creator>
  <cp:keywords/>
  <dc:description>generated using python-pptx</dc:description>
  <cp:lastModifiedBy>Carlos Díaz Raposo</cp:lastModifiedBy>
  <cp:revision>7</cp:revision>
  <dcterms:created xsi:type="dcterms:W3CDTF">2013-01-27T09:14:16Z</dcterms:created>
  <dcterms:modified xsi:type="dcterms:W3CDTF">2026-05-25T16:02:24Z</dcterms:modified>
  <cp:category/>
</cp:coreProperties>
</file>